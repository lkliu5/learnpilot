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开场：自我介绍 + 一句话定位——智学中枢是一个多智能体协同驱动的个性化学习平台，核心解决"千人一面"和"AI 幻觉"两大痛点。强调四个差异化亮点。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30 秒带过汇报结构，让评委建立预期：价值—架构—功能—指标—创新—展望，对应评分维度。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讲透应用价值（占评分 35%）：先立痛点——千人一面 + AI 幻觉；再给价值主张三件套：因材施教、可信生成、科学闭环。后面每个功能都回扣这三点。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架构一页看全：五层 + 贯穿机制。重点强调多智能体编排层用的是真实 LangGraph（非串行模拟），以及 Mock-first 让评委断网也能复现。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五个 Agent 分工清晰，对应赛题"多智能体系统"。强调①②③是真实 LangGraph 编排、有回环重试，并用消融数据证明 RAG 的作用。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核心一：对话式画像。演示真实打字几轮，右侧 0→6 一格格填充。强调"易错点"等推断维度标低置信——这是防幻觉理念的体现。三种入口（做题/自述/跳过）产出同一套画像，如实标注来源可信度。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重头戏，给足时间。现场启动工作流，制造一次审核不通过展示真实回环重试。最终幻觉率&lt;5%、sources 可溯源到具体文档。这是最有说服力的"真实多智能体"证据。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防幻觉是可信生成的核心。三道防线 + 消融实验：去掉 RAG 幻觉率从 0.059 飙到 0.155，证明接地是主因；审核与重试是安全网，保障降级兜底。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核心三：个性化学习路径。展示两个不同画像生成的不同路径（薄弱点优先、已掌握后置）。强调这是真实排序算法驱动，不是写死的列表。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差异化亮点：把康奈尔+费曼+阶段测试做进产品，形成"学-记-讲-测"科学闭环。强调阶段测试是 GATE，通关才点亮掌握，真正对应因材施教。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加分亮点：智能即时辅导。自学卡住随手就能问，系统识别问题后给针对性资源清单，勾选即按需生成——解决"自学没人答疑"的真实痛点。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加分亮点：学习评估 Agent。区别于单次生成工作流，它跨会话持续运行，基于真实做题行为产出四维评估 + 动态调整建议，闭合个性化学习循环。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快节奏带过四个加分项：图解动态生成、多模态资源中枢、知识图谱、岗位对标+联网聚合。每项约 10 秒，证明系统能力的广度。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数字从真实 metrics-report 取，全部达标。三大主指标 + 跨领域验证（诚实呈现网络域略高）+ 性能成本。强调可复现：附复现命令。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总结四大差异化创新——这页是拉分关键。每点一句话讲清"别人没有/我们做到"：真实多智能体、防幻觉双保险、学习闭环、对话画像。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对应文档分（10%）与合规要求：技术栈、AI 辅助开发说明（Claude Code + DeepSeek）、开源依赖与协议、内容安全与可复现。体现工程严谨。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收尾：回顾成果（系统可运行、指标达标、可复现），再给揭榜挂帅展望（资源/岗位聚合）。最后一句口号收束，谢谢评委。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146304" cy="91440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3533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9FB7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 · 领域知识个性化资源生成与多智能体系统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7830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68680" y="28803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0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多智能体协同驱动的个性化学习平台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35204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诊断学情 · 生成每一课 —— 让 AI 真正因材施教，让每一份学习内容都可溯源、可信。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4297680"/>
            <a:ext cx="2505456" cy="512064"/>
          </a:xfrm>
          <a:prstGeom prst="roundRect">
            <a:avLst>
              <a:gd name="adj" fmla="val 17857"/>
            </a:avLst>
          </a:prstGeom>
          <a:solidFill>
            <a:srgbClr val="1F3050"/>
          </a:solidFill>
          <a:ln w="12700">
            <a:solidFill>
              <a:srgbClr val="5B7F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297680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真实多智能体协同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38728" y="4297680"/>
            <a:ext cx="2505456" cy="512064"/>
          </a:xfrm>
          <a:prstGeom prst="roundRect">
            <a:avLst>
              <a:gd name="adj" fmla="val 17857"/>
            </a:avLst>
          </a:prstGeom>
          <a:solidFill>
            <a:srgbClr val="1F3050"/>
          </a:solidFill>
          <a:ln w="12700">
            <a:solidFill>
              <a:srgbClr val="5B7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8728" y="4297680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防幻觉 · 幻觉率&lt;5%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08776" y="4297680"/>
            <a:ext cx="2505456" cy="512064"/>
          </a:xfrm>
          <a:prstGeom prst="roundRect">
            <a:avLst>
              <a:gd name="adj" fmla="val 17857"/>
            </a:avLst>
          </a:prstGeom>
          <a:solidFill>
            <a:srgbClr val="1F3050"/>
          </a:solidFill>
          <a:ln w="12700">
            <a:solidFill>
              <a:srgbClr val="5B7F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08776" y="4297680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对话式动态画像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78824" y="4297680"/>
            <a:ext cx="2505456" cy="512064"/>
          </a:xfrm>
          <a:prstGeom prst="roundRect">
            <a:avLst>
              <a:gd name="adj" fmla="val 17857"/>
            </a:avLst>
          </a:prstGeom>
          <a:solidFill>
            <a:srgbClr val="1F3050"/>
          </a:solidFill>
          <a:ln w="12700">
            <a:solidFill>
              <a:srgbClr val="5B7F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78824" y="4297680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学—记—讲—测闭环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5257800"/>
            <a:ext cx="10424160" cy="0"/>
          </a:xfrm>
          <a:prstGeom prst="line">
            <a:avLst/>
          </a:prstGeom>
          <a:noFill/>
          <a:ln w="12700">
            <a:solidFill>
              <a:srgbClr val="3347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440680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参赛队伍：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〔队伍名称〕</a:t>
            </a:r>
            <a:pPr indent="0" marL="0">
              <a:buNone/>
            </a:pPr>
            <a:r>
              <a:rPr lang="en-US" sz="1300" dirty="0">
                <a:solidFill>
                  <a:srgbClr val="8F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团队成员：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〔成员姓名〕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5797296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参赛院校：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〔学校名称〕</a:t>
            </a:r>
            <a:pPr indent="0" marL="0">
              <a:buNone/>
            </a:pPr>
            <a:r>
              <a:rPr lang="en-US" sz="1300" dirty="0">
                <a:solidFill>
                  <a:srgbClr val="8F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指导教师：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〔指导教师〕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汇报目录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8C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874520" y="179222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应用背景与价值主张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74520" y="226771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赛题理解 · 两大痛点 · 价值定位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8C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498080" y="179222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系统架构与多智能体设计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8080" y="226771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整体架构 · LangGraph 五节点 · Agent 分工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035808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4672" y="3218688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8C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1874520" y="32735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六大核心功能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74520" y="37490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 · 资源生成 · 路径 · 闭环 · 辅导 · 评估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035808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28232" y="3218688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8C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498080" y="32735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防幻觉与量化指标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98080" y="37490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接地 · 消融实验 · 真实指标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517136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4672" y="4700016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8C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1874520" y="4754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创新亮点与工程合规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874520" y="52303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四大创新 · 开源合规 · AI 辅助开发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4517136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28232" y="4700016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8C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7498080" y="4754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成果总结与展望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98080" y="52303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成果回顾 · 揭榜挂帅方向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· 应用价值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赛题背景：两大痛点亟待破解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133502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在线学习与 AI 生成内容快速普及，但真正"因材施教 + 可信"仍未解决：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76200" dist="25400" dir="5400000">
              <a:srgbClr val="C9BEA6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1828800"/>
          </a:xfrm>
          <a:prstGeom prst="rect">
            <a:avLst/>
          </a:prstGeom>
          <a:solidFill>
            <a:srgbClr val="C2873F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975104"/>
            <a:ext cx="5129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痛点一 · 资源千人一面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" y="2286000"/>
            <a:ext cx="512978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统一的课程、统一的难度、统一的顺序——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忽视个体的知识基础、认知风格与学习目标，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"学了用不上、想学的没有"，学习效率低下。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8288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76200" dist="25400" dir="5400000">
              <a:srgbClr val="C9BEA6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828800"/>
            <a:ext cx="82296" cy="1828800"/>
          </a:xfrm>
          <a:prstGeom prst="rect">
            <a:avLst/>
          </a:prstGeom>
          <a:solidFill>
            <a:srgbClr val="B5544B"/>
          </a:solidFill>
          <a:ln/>
        </p:spPr>
      </p:sp>
      <p:sp>
        <p:nvSpPr>
          <p:cNvPr id="15" name="Text 13"/>
          <p:cNvSpPr/>
          <p:nvPr/>
        </p:nvSpPr>
        <p:spPr>
          <a:xfrm>
            <a:off x="6464808" y="1975104"/>
            <a:ext cx="5129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痛点二 · AI 生成易幻觉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64808" y="2286000"/>
            <a:ext cx="512978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大模型直接生成讲义常出现事实性错误、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来源不可考；教育场景一旦"一本正经地胡说"，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轻则误导、重则失去信任，无法落地教学。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11064240" cy="2240280"/>
          </a:xfrm>
          <a:prstGeom prst="roundRect">
            <a:avLst>
              <a:gd name="adj" fmla="val 4898"/>
            </a:avLst>
          </a:prstGeom>
          <a:solidFill>
            <a:srgbClr val="17243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0690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我们的价值主张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4617720"/>
            <a:ext cx="3291840" cy="1298448"/>
          </a:xfrm>
          <a:prstGeom prst="roundRect">
            <a:avLst>
              <a:gd name="adj" fmla="val 7042"/>
            </a:avLst>
          </a:prstGeom>
          <a:solidFill>
            <a:srgbClr val="1F3050"/>
          </a:solidFill>
          <a:ln w="12700">
            <a:solidFill>
              <a:srgbClr val="5B7F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7365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因材施教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" y="512064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D2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对话建画像 → 能力定顺序、偏好定形式，不同的人不同的路径与资源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34840" y="4617720"/>
            <a:ext cx="3291840" cy="1298448"/>
          </a:xfrm>
          <a:prstGeom prst="roundRect">
            <a:avLst>
              <a:gd name="adj" fmla="val 7042"/>
            </a:avLst>
          </a:prstGeom>
          <a:solidFill>
            <a:srgbClr val="1F3050"/>
          </a:solidFill>
          <a:ln w="12700">
            <a:solidFill>
              <a:srgbClr val="5B7F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47365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可信生成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17720" y="512064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D2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逐句接地 + 多智能体交叉审核，幻觉率压到 5% 以下、来源可溯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55280" y="4617720"/>
            <a:ext cx="3291840" cy="1298448"/>
          </a:xfrm>
          <a:prstGeom prst="roundRect">
            <a:avLst>
              <a:gd name="adj" fmla="val 7042"/>
            </a:avLst>
          </a:prstGeom>
          <a:solidFill>
            <a:srgbClr val="1F3050"/>
          </a:solidFill>
          <a:ln w="12700">
            <a:solidFill>
              <a:srgbClr val="5B7F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47365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科学闭环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38160" y="512064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D2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把康奈尔笔记、费曼讲解、阶段测试做进产品，学—记—讲—测成环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整体技术架构：全栈自建、轻量可跑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CFE0D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90472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前端交互层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154680" y="1490472"/>
            <a:ext cx="5577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18 + TypeScript + Vite · Zustand 状态 · Framer/GSAP 动效 · ECharts/Mermaid 可视化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40080" y="2368296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D6E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441448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服务接口层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154680" y="2441448"/>
            <a:ext cx="5577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· 统一响应信封 {code,message,data,traceId} · JWT 鉴权 · 异步任务轮询 · 日志脱敏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40080" y="3319272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E7D9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392424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多智能体编排层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154680" y="3392424"/>
            <a:ext cx="5577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五节点工作流：诊断 → 检索 → 生成 → 审核 → 决策（重试 / 降级回环）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40080" y="4270248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CFE0D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43400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检索增强层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154680" y="4343400"/>
            <a:ext cx="5577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 向量库 · bge 本地嵌入 · 逐句接地校验 · 30+ 文档 / 153 切片知识库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40080" y="5221224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DDD6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294376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数据与模型层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154680" y="5294376"/>
            <a:ext cx="5577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持久化 · 内存 TTL 会话 · LLMClient 适配层（mock / DeepSeek / Qwen 可切换）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9098280" y="1417320"/>
            <a:ext cx="2606040" cy="4434840"/>
          </a:xfrm>
          <a:prstGeom prst="roundRect">
            <a:avLst>
              <a:gd name="adj" fmla="val 3509"/>
            </a:avLst>
          </a:prstGeom>
          <a:solidFill>
            <a:srgbClr val="17243F"/>
          </a:solidFill>
          <a:ln/>
        </p:spPr>
      </p:sp>
      <p:sp>
        <p:nvSpPr>
          <p:cNvPr id="24" name="Text 22"/>
          <p:cNvSpPr/>
          <p:nvPr/>
        </p:nvSpPr>
        <p:spPr>
          <a:xfrm>
            <a:off x="9235440" y="157276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贯穿机制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53728" y="1965960"/>
            <a:ext cx="2377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Mock-first：无任何 API Key 也能跑通全链路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防幻觉：RAG 接地 + Critic 审核 + 重试降级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内容安全：敏感/违规过滤，不误伤学术术语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可观测：WorkflowTrace 全轨迹留痕、可复现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轻量栈：Chroma + SQLite，单机即可部署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DESIGN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多智能体协同：明确分工 · 真实编排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331012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417320"/>
            <a:ext cx="91440" cy="1481328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5636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学情诊断 Agent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196596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对话采集 + 诊断微测，构建 6 维异质画像；不确定维度标低置信，绝不臆造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24528" y="1417320"/>
            <a:ext cx="331012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24528" y="1417320"/>
            <a:ext cx="91440" cy="1481328"/>
          </a:xfrm>
          <a:prstGeom prst="rect">
            <a:avLst/>
          </a:prstGeom>
          <a:solidFill>
            <a:srgbClr val="2E4A78"/>
          </a:solidFill>
          <a:ln/>
        </p:spPr>
      </p:sp>
      <p:sp>
        <p:nvSpPr>
          <p:cNvPr id="14" name="Text 12"/>
          <p:cNvSpPr/>
          <p:nvPr/>
        </p:nvSpPr>
        <p:spPr>
          <a:xfrm>
            <a:off x="4453128" y="15636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领域知识生成 Agent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53128" y="196596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依画像生成适配难度的讲义/图解/代码/测试，结构递进、贴画像给不同深度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044952"/>
            <a:ext cx="331012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044952"/>
            <a:ext cx="91440" cy="1481328"/>
          </a:xfrm>
          <a:prstGeom prst="rect">
            <a:avLst/>
          </a:prstGeom>
          <a:solidFill>
            <a:srgbClr val="C2873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191256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内容审核校验 Agent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5935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RAG 知识库逐句接地校验幻觉率，超阈值打回重生成，把关可信度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24528" y="3044952"/>
            <a:ext cx="331012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24528" y="3044952"/>
            <a:ext cx="91440" cy="1481328"/>
          </a:xfrm>
          <a:prstGeom prst="rect">
            <a:avLst/>
          </a:prstGeom>
          <a:solidFill>
            <a:srgbClr val="46624F"/>
          </a:solidFill>
          <a:ln/>
        </p:spPr>
      </p:sp>
      <p:sp>
        <p:nvSpPr>
          <p:cNvPr id="22" name="Text 20"/>
          <p:cNvSpPr/>
          <p:nvPr/>
        </p:nvSpPr>
        <p:spPr>
          <a:xfrm>
            <a:off x="4453128" y="3191256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学习路径规划 Agent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53128" y="35935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按掌握度打分排序：薄弱优先、已掌握后置，偏好决定资源形式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672584"/>
            <a:ext cx="690372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4672584"/>
            <a:ext cx="91440" cy="1481328"/>
          </a:xfrm>
          <a:prstGeom prst="rect">
            <a:avLst/>
          </a:prstGeom>
          <a:solidFill>
            <a:srgbClr val="B5544B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81888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学习过程评估 Agent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68680" y="52395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跨会话持续运行，累积做题/进度/笔记行为，产出多维评估与动态调整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72400" y="1417320"/>
            <a:ext cx="3931920" cy="4736592"/>
          </a:xfrm>
          <a:prstGeom prst="roundRect">
            <a:avLst>
              <a:gd name="adj" fmla="val 2326"/>
            </a:avLst>
          </a:prstGeom>
          <a:solidFill>
            <a:srgbClr val="17243F"/>
          </a:solidFill>
          <a:ln/>
        </p:spPr>
      </p:sp>
      <p:sp>
        <p:nvSpPr>
          <p:cNvPr id="29" name="Text 27"/>
          <p:cNvSpPr/>
          <p:nvPr/>
        </p:nvSpPr>
        <p:spPr>
          <a:xfrm>
            <a:off x="7973568" y="15727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编排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973568" y="1993392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2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② ③ 由 LangGraph 状态机编排为单次生成工作流；④ ⑤ 作为独立 Agent 长期运行。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973568" y="2834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 → 检索 → 生成 → 审核 → 决策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973568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2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审核不通过 → 在 生成↔审核 间真实回环重试；超限则降级兜底，保证有可信产物交付。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973568" y="4297680"/>
            <a:ext cx="3529584" cy="1691640"/>
          </a:xfrm>
          <a:prstGeom prst="roundRect">
            <a:avLst>
              <a:gd name="adj" fmla="val 4324"/>
            </a:avLst>
          </a:prstGeom>
          <a:solidFill>
            <a:srgbClr val="1F3050"/>
          </a:solidFill>
          <a:ln w="12700">
            <a:solidFill>
              <a:srgbClr val="5B7F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38160" y="440740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消融实验佐证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38160" y="4736592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去掉 RAG 检索，幻觉率由 0.059 升至 0.155（Δ+0.096）——接地是抑制幻觉的主导机制。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 01 · 对话式画像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摒弃表单：对话建像，随聊随长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934456" y="1998182"/>
            <a:ext cx="5961888" cy="3593157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9" name="Image 0" descr="F:\软件杯\docs\ppt-assets\shots\06-profile-chat-prog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053046"/>
            <a:ext cx="5852160" cy="348342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1417320"/>
            <a:ext cx="5074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对话式诊断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自然语言交流中自动抽取特征，右侧 6 维画像实时"长"出来，不用填表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维异质画像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知识基础 · 认知风格 · 易错点 · 学习目标 · 先验经验 · 学习节奏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能力靠测、偏好归类、主观靠聊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能力由微测行为反推（带依据），偏好只归类型不打分，不混进能力轴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防幻觉理念前置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空作答标"未测/低置信"，不确定的绝不编造；随学随新，画像变则路径变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 02 · 多智能体资源生成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五节点：真实协同、真实回环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93776" y="1403822"/>
            <a:ext cx="7882128" cy="4736157"/>
          </a:xfrm>
          <a:prstGeom prst="roundRect">
            <a:avLst>
              <a:gd name="adj" fmla="val 1545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9" name="Image 0" descr="F:\软件杯\docs\ppt-assets\shots\08b-workflow-d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58686"/>
            <a:ext cx="7772400" cy="462642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49640" y="1371600"/>
            <a:ext cx="315468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86800" y="146304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真实编排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686800" y="1773936"/>
            <a:ext cx="29260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诊断→检索→生成→审核→决策五节点逐个点亮，非动画演示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549640" y="2578608"/>
            <a:ext cx="315468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686800" y="2670048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逐句接地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686800" y="2980944"/>
            <a:ext cx="29260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生成讲义后，审核 Agent 基于 RAG 知识库逐句校验幻觉率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549640" y="3785616"/>
            <a:ext cx="315468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686800" y="3877056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回环重试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686800" y="4187952"/>
            <a:ext cx="29260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超阈值打回重生成；超限降级兜底，保证可信产物交付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549640" y="4992624"/>
            <a:ext cx="315468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686800" y="5084064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全程留痕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686800" y="5394960"/>
            <a:ext cx="29260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WorkflowTrace 记录 327 条真实轨迹，可复现、可观测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可信生成 · 防幻觉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防幻觉三道防线 + 消融验证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1271016"/>
            <a:ext cx="5486400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9" name="Image 0" descr="F:\软件杯\docs\ppt-assets\shots\11-resource-l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325880"/>
            <a:ext cx="5376672" cy="3200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4663440"/>
            <a:ext cx="5989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讲义页实时标注"已校验 · 幻觉率&lt;5%"，并显示 RAG 引用文档数（12 篇），点击可查看接地机制。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812280" y="1371600"/>
            <a:ext cx="4892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12280" y="1371600"/>
            <a:ext cx="82296" cy="73152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13" name="Text 10"/>
          <p:cNvSpPr/>
          <p:nvPr/>
        </p:nvSpPr>
        <p:spPr>
          <a:xfrm>
            <a:off x="6967728" y="142646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第一道 · RAG 接地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67728" y="1737360"/>
            <a:ext cx="4617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生成全程基于检索到的真实语料，逐句可溯源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12280" y="2212848"/>
            <a:ext cx="4892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12280" y="2212848"/>
            <a:ext cx="82296" cy="73152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17" name="Text 14"/>
          <p:cNvSpPr/>
          <p:nvPr/>
        </p:nvSpPr>
        <p:spPr>
          <a:xfrm>
            <a:off x="6967728" y="226771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第二道 · Critic 审核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967728" y="2578608"/>
            <a:ext cx="4617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内容审核 Agent 逐句校验，未接地句计入幻觉率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812280" y="3054096"/>
            <a:ext cx="4892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12280" y="3054096"/>
            <a:ext cx="82296" cy="73152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21" name="Text 18"/>
          <p:cNvSpPr/>
          <p:nvPr/>
        </p:nvSpPr>
        <p:spPr>
          <a:xfrm>
            <a:off x="6967728" y="310896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第三道 · 重试降级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967728" y="3419856"/>
            <a:ext cx="4617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超阈值回炉重生成，超限降级，绝不交付不可信内容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12280" y="4023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消融实验 · 18 份/配置 · 同一接地基准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4315968"/>
          <a:ext cx="4892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21488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平均幻觉率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完整链路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0.0589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RAG+审核+重试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 RAG 检索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0.1549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幻觉率激增 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 审核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0.0490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无校验直接交付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 重试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0.0682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低分即降级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 03 · 个性化学习路径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能力定顺序 · 偏好定形式 · 画像变路径变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797296" y="1970967"/>
            <a:ext cx="6053328" cy="3647585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9" name="Image 0" descr="F:\软件杯\docs\ppt-assets\shots\09-learning-path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2025831"/>
            <a:ext cx="5943600" cy="353785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1417320"/>
            <a:ext cx="49377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真个性化排序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 Agent 依据真实画像与掌握度打分：基础薄弱从头学，已掌握自动后置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偏好决定资源形式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实践型多给代码实操、理论型多给讲义推导——每一步精准推送对应资源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不同的人，不同的路径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两个不同画像生成两条不同路径；零基础新用户全程从第一课起步，无"已完成"错节点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动态重算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画像或掌握度变化时路径自动重算，始终对齐当前学情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 04 · 学习方法闭环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学—记—讲—测：把学习科学做进产品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5B7F6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输入·看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27248" y="137160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93008" y="1371600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5B7F6E"/>
          </a:solidFill>
          <a:ln/>
        </p:spPr>
      </p:sp>
      <p:sp>
        <p:nvSpPr>
          <p:cNvPr id="12" name="Text 10"/>
          <p:cNvSpPr/>
          <p:nvPr/>
        </p:nvSpPr>
        <p:spPr>
          <a:xfrm>
            <a:off x="3493008" y="13716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康奈尔·记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80176" y="137160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45936" y="1371600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5B7F6E"/>
          </a:solidFill>
          <a:ln/>
        </p:spPr>
      </p:sp>
      <p:sp>
        <p:nvSpPr>
          <p:cNvPr id="15" name="Text 13"/>
          <p:cNvSpPr/>
          <p:nvPr/>
        </p:nvSpPr>
        <p:spPr>
          <a:xfrm>
            <a:off x="6345936" y="13716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费曼·讲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33104" y="137160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198864" y="1371600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C2873F"/>
          </a:solidFill>
          <a:ln/>
        </p:spPr>
      </p:sp>
      <p:sp>
        <p:nvSpPr>
          <p:cNvPr id="18" name="Text 16"/>
          <p:cNvSpPr/>
          <p:nvPr/>
        </p:nvSpPr>
        <p:spPr>
          <a:xfrm>
            <a:off x="9198864" y="13716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阶段测试·测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08583" y="2093976"/>
            <a:ext cx="4795114" cy="2898648"/>
          </a:xfrm>
          <a:prstGeom prst="roundRect">
            <a:avLst>
              <a:gd name="adj" fmla="val 2524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20" name="Image 0" descr="F:\软件杯\docs\ppt-assets\shots\13-cornell-no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" y="2148840"/>
            <a:ext cx="4685386" cy="278892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746443" y="2093976"/>
            <a:ext cx="4795114" cy="2898648"/>
          </a:xfrm>
          <a:prstGeom prst="roundRect">
            <a:avLst>
              <a:gd name="adj" fmla="val 2524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22" name="Image 1" descr="F:\软件杯\docs\ppt-assets\shots\14-feynm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307" y="2148840"/>
            <a:ext cx="4685386" cy="27889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48640" y="4983480"/>
            <a:ext cx="5715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康奈尔笔记：线索栏带问题复述 + 主笔记区结构化输入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400800" y="498348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费曼讲解：以讲代学，AI 顺着讲解追问、列出理解缺口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40080" y="5440680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17243F"/>
          </a:solidFill>
          <a:ln/>
        </p:spPr>
      </p:sp>
      <p:sp>
        <p:nvSpPr>
          <p:cNvPr id="26" name="Text 22"/>
          <p:cNvSpPr/>
          <p:nvPr/>
        </p:nvSpPr>
        <p:spPr>
          <a:xfrm>
            <a:off x="868680" y="5440680"/>
            <a:ext cx="10607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阶段测试是独立检验 GATE：只有通过（≥60 分）才点亮"已掌握"并推进学习路径——"通关才算掌握"，杜绝自我感觉良好。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 05 · 智能即时辅导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"我没懂"→ 按需生成针对性资源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93776" y="1915450"/>
            <a:ext cx="5779008" cy="3484299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9" name="Image 0" descr="F:\软件杯\docs\ppt-assets\shots\15-instant-tu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70314"/>
            <a:ext cx="5669280" cy="337457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300216" y="1956272"/>
            <a:ext cx="5641848" cy="3402657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11" name="Image 1" descr="F:\软件杯\docs\ppt-assets\shots\16-instant-tutor-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011136"/>
            <a:ext cx="5532120" cy="329292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描述卡点 → AI 识别问题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355080" y="5989320"/>
            <a:ext cx="5532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生成针对性资源清单（图解/例题/视频/讲义），勾选即按需生成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 06 · 学习过程评估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多维过程评估 + 动态调整建议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705856" y="1943753"/>
            <a:ext cx="6144768" cy="3702014"/>
          </a:xfrm>
          <a:prstGeom prst="roundRect">
            <a:avLst>
              <a:gd name="adj" fmla="val 1976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9" name="Image 0" descr="F:\软件杯\docs\ppt-assets\shots\03-dashboard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998617"/>
            <a:ext cx="6035040" cy="359228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1417320"/>
            <a:ext cx="4983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基于真实学习行为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跨会话累积做题、进度、笔记行为，而非一次性问卷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四维量化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掌握进度 · 测验表现 · 学习效率 · 学习投入，定位薄弱点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动态调整建议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指出下一步优先攻克的知识点与建议难度，边学边测稳步推进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全局学情概览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能力雷达、知识图谱覆盖、综合评分一屏总览，画像可信度透明标注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更多能力 · 加分项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多模态资源 · 知识图谱 · 岗位对标 · 联网聚合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03504" y="1611521"/>
            <a:ext cx="2907792" cy="1760438"/>
          </a:xfrm>
          <a:prstGeom prst="roundRect">
            <a:avLst>
              <a:gd name="adj" fmla="val 4155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9" name="Image 0" descr="F:\软件杯\docs\ppt-assets\shots\12-resource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8097"/>
            <a:ext cx="2834640" cy="168728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11880" y="1600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知识图解动态生成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11880" y="22402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按知识点内容动态生成 Mermaid 图，不同知识点不同图型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72784" y="1611521"/>
            <a:ext cx="2907792" cy="1760438"/>
          </a:xfrm>
          <a:prstGeom prst="roundRect">
            <a:avLst>
              <a:gd name="adj" fmla="val 4155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13" name="Image 1" descr="F:\软件杯\docs\ppt-assets\shots\17-resource-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8097"/>
            <a:ext cx="2834640" cy="168728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281160" y="1600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多模态资源中枢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9281160" y="22402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讲义/思维导图/代码/图解/测试一站式资源包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" y="4080401"/>
            <a:ext cx="2907792" cy="1760438"/>
          </a:xfrm>
          <a:prstGeom prst="roundRect">
            <a:avLst>
              <a:gd name="adj" fmla="val 4155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17" name="Image 2" descr="F:\软件杯\docs\ppt-assets\shots\18-knowledge-grap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6977"/>
            <a:ext cx="2834640" cy="16872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11880" y="40690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知识图谱可视化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611880" y="470916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掌握/学习中/待学/盲区四态拓扑，学情一目了然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272784" y="4080401"/>
            <a:ext cx="2907792" cy="1760438"/>
          </a:xfrm>
          <a:prstGeom prst="roundRect">
            <a:avLst>
              <a:gd name="adj" fmla="val 4155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sx="100000" sy="100000" kx="0" ky="0" algn="bl" rotWithShape="0" blurRad="114300" dist="38100" dir="5400000">
              <a:srgbClr val="7A6A4A">
                <a:alpha val="28000"/>
              </a:srgbClr>
            </a:outerShdw>
          </a:effectLst>
        </p:spPr>
      </p:sp>
      <p:pic>
        <p:nvPicPr>
          <p:cNvPr id="21" name="Image 3" descr="F:\软件杯\docs\ppt-assets\shots\19-job-mat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116977"/>
            <a:ext cx="2834640" cy="16872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81160" y="40690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岗位对标 + 联网聚合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281160" y="470916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对接目标岗位算匹配度与能力缺口 · 联网搜优质资源 AI 评分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· 真实指标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量化指标：全部达标、可复现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46624F"/>
            </a:solidFill>
            <a:prstDash val="solid"/>
          </a:ln>
          <a:effectLst>
            <a:outerShdw sx="100000" sy="100000" kx="0" ky="0" algn="bl" rotWithShape="0" blurRad="88900" dist="25400" dir="5400000">
              <a:srgbClr val="C9BEA6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572768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0.0428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40080" y="24871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幻觉率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85292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&lt;0.05 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41732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2E4A78"/>
            </a:solidFill>
            <a:prstDash val="solid"/>
          </a:ln>
          <a:effectLst>
            <a:outerShdw sx="100000" sy="100000" kx="0" ky="0" algn="bl" rotWithShape="0" blurRad="88900" dist="25400" dir="5400000">
              <a:srgbClr val="C9BEA6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43400" y="1572768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E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4343400" y="24871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难度适配率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43400" y="285292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≥85% 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41732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C2873F"/>
            </a:solidFill>
            <a:prstDash val="solid"/>
          </a:ln>
          <a:effectLst>
            <a:outerShdw sx="100000" sy="100000" kx="0" ky="0" algn="bl" rotWithShape="0" blurRad="88900" dist="25400" dir="5400000">
              <a:srgbClr val="C9BEA6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0" y="1572768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28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8046720" y="24871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知识覆盖率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0" y="285292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≥90% 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4290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跨领域验证（同一管线换计算机网络域）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4904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领域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幻觉率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适配率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AI（30 文档）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0.0428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计算机网络（5 文档）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0.0700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8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40080" y="4846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换领域端到端跑通、覆盖率满分，证明方法论与领域无关。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00800" y="342900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66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性能与成本（327 条真实轨迹）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400800" y="374904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10528" y="380390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 s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6510528" y="41879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P50 生成耗时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098280" y="374904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208008" y="380390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37.0 s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9208008" y="41879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P90 生成耗时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400800" y="4590288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10528" y="464515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¥0.02</a:t>
            </a:r>
            <a:endParaRPr lang="en-US" sz="1900" dirty="0"/>
          </a:p>
        </p:txBody>
      </p:sp>
      <p:sp>
        <p:nvSpPr>
          <p:cNvPr id="32" name="Text 29"/>
          <p:cNvSpPr/>
          <p:nvPr/>
        </p:nvSpPr>
        <p:spPr>
          <a:xfrm>
            <a:off x="6510528" y="50292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单份讲义成本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9098280" y="4590288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08008" y="464515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文档 / 153 切片</a:t>
            </a:r>
            <a:endParaRPr lang="en-US" sz="1900" dirty="0"/>
          </a:p>
        </p:txBody>
      </p:sp>
      <p:sp>
        <p:nvSpPr>
          <p:cNvPr id="35" name="Text 32"/>
          <p:cNvSpPr/>
          <p:nvPr/>
        </p:nvSpPr>
        <p:spPr>
          <a:xfrm>
            <a:off x="9208008" y="50292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知识库规模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400800" y="5440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一轮 18 份讲义 ≈ ¥0.36，低成本可规模化。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· 差异化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四大创新亮点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76200" dist="25400" dir="5400000">
              <a:srgbClr val="C9BEA6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417320"/>
            <a:ext cx="109728" cy="21488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600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7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874520" y="169164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真实多智能体协同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874520" y="237744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状态机编排五节点，生成↔审核间真实回环重试与降级，非串行动画模拟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141732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76200" dist="25400" dir="5400000">
              <a:srgbClr val="C9BEA6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417320"/>
            <a:ext cx="109728" cy="2148840"/>
          </a:xfrm>
          <a:prstGeom prst="rect">
            <a:avLst/>
          </a:prstGeom>
          <a:solidFill>
            <a:srgbClr val="C2873F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600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8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7543800" y="169164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防幻觉 + 内容安全双保险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543800" y="237744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逐句接地把幻觉率压到 &lt;5%，敏感/违规内容统一过滤且不误伤学术术语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76200" dist="25400" dir="5400000">
              <a:srgbClr val="C9BEA6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794760"/>
            <a:ext cx="109728" cy="2148840"/>
          </a:xfrm>
          <a:prstGeom prst="rect">
            <a:avLst/>
          </a:prstGeom>
          <a:solidFill>
            <a:srgbClr val="2E4A78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977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1874520" y="406908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学—记—讲—测科学闭环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874520" y="475488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康奈尔笔记 + 费曼讲解 + 阶段测试 GATE 做进产品，"通关才算掌握"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379476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76200" dist="25400" dir="5400000">
              <a:srgbClr val="C9BEA6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3794760"/>
            <a:ext cx="109728" cy="2148840"/>
          </a:xfrm>
          <a:prstGeom prst="rect">
            <a:avLst/>
          </a:prstGeom>
          <a:solidFill>
            <a:srgbClr val="46624F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3977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7543800" y="406908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对话式动态画像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543800" y="475488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摒弃表单，对话建 6 维异质画像，不确定维度标低置信，随学随新驱动路径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7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· 合规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工程实践与合规说明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325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417320"/>
            <a:ext cx="5349240" cy="457200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417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技术栈与架构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41248" y="2020824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18 + FastAPI + LangGraph + Chroma 全栈自建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LLMClient 适配层：mock / DeepSeek / Qwen 可切换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Mock-first：无 API Key 即可跑通全链路演示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41732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417320"/>
            <a:ext cx="5349240" cy="457200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17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辅助开发说明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10528" y="2020824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编程协作使用 Claude Code（真实占比人工核对）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推理模型采用 DeepSeek（讲义生成同源管线）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辅助开发内容均经人工审阅与测试验证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794760"/>
            <a:ext cx="5349240" cy="457200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794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开源依赖与协议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1248" y="4398264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前端依赖均为 MIT/Apache 等宽松协议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知识库语料标注来源与许可（BSD/Apache/CC BY-SA）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正文按开放许可整理、非逐字拷贝，仅供 RAG 接地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37947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sx="100000" sy="100000" kx="0" ky="0" algn="bl" rotWithShape="0" blurRad="63500" dist="25400" dir="5400000">
              <a:srgbClr val="C9BEA6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3794760"/>
            <a:ext cx="5349240" cy="457200"/>
          </a:xfrm>
          <a:prstGeom prst="rect">
            <a:avLst/>
          </a:prstGeom>
          <a:solidFill>
            <a:srgbClr val="17243F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794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内容安全与质量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10528" y="4398264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生成内容统一敏感/违规检测，不误伤术语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日志中手机号/邮箱经脱敏拦截器掩码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指标可复现：附完整复现命令与轨迹留痕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· 领域知识个性化资源生成与多智能体系统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95360" y="6473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软件杯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146304" cy="777240"/>
          </a:xfrm>
          <a:prstGeom prst="rect">
            <a:avLst/>
          </a:prstGeom>
          <a:solidFill>
            <a:srgbClr val="5B7F6E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84124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OUTLOOK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41248" y="11704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成果总结与未来展望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已交付成果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5212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完整可运行的多智能体系统，前后端 + RAG 全链路打通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六大核心功能 + 多项加分能力，覆盖学习全流程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真实指标达标：幻觉率 0.0428、适配率/覆盖率 100%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跨领域验证 + 消融实验 + 性能成本，结果可复现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自建完整课程知识库，30+ 文档来源与许可清晰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2057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E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 · 揭榜挂帅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0" y="2468880"/>
            <a:ext cx="5303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资源生态聚合：联网优质资源 + AI 评分排序规模化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岗位能力图谱：对接真实招聘需求，学习直通就业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生产级替换：Milvus/PostgreSQL/Redis 平滑升级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更多学科领域扩展，领域词典与语料持续补齐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CE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服务端视频渲染导出，多模态资源进一步丰富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5806440"/>
            <a:ext cx="10835640" cy="0"/>
          </a:xfrm>
          <a:prstGeom prst="line">
            <a:avLst/>
          </a:prstGeom>
          <a:noFill/>
          <a:ln w="12700">
            <a:solidFill>
              <a:srgbClr val="3347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943600"/>
            <a:ext cx="10835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智学中枢 —— 让 AI 因材施教，让每一份学习内容都可信。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智学中枢 · 软件杯参赛汇报</dc:title>
  <dc:subject>PptxGenJS Presentation</dc:subject>
  <dc:creator>智学中枢团队</dc:creator>
  <cp:lastModifiedBy>智学中枢团队</cp:lastModifiedBy>
  <cp:revision>1</cp:revision>
  <dcterms:created xsi:type="dcterms:W3CDTF">2026-06-29T09:54:40Z</dcterms:created>
  <dcterms:modified xsi:type="dcterms:W3CDTF">2026-06-29T09:54:40Z</dcterms:modified>
</cp:coreProperties>
</file>