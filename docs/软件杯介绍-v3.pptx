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 30 秒：报项目名 + 组别 + 答辩人，一句话定位——多智能体协同驱动的个性化学习平台，解决"千人一面"与"AI 幻觉"两大痛点，四个差异化亮点见标签。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核心公式：痛点 → 现有方案不足 → 我们的解决方案。先立两大痛点，再给价值主张三件套（因材施教/可信生成/科学闭环），后续每个功能都回扣这三点。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架构一页看全：五层 + 技术选型亮点。强调多智能体编排是真实 LangGraph（非串行模拟）、Mock-first 可断网复现、轻量栈单机可部署、生产平滑替换路径。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五个 Agent 分工清晰，对应赛题"多智能体系统"。①②③真实 LangGraph 编排、有回环重试；④⑤独立运行。消融数据证明 RAG 作用。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技术硬核页：用真实公式展示技术深度。幻觉率/适配率/覆盖率口径、RAG 接地相似度阈值 0.6、路径优先级打分（来自 planner_agent 真实代码）。强调全部确定性计算、可复现。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功能模块总览：先给业务主线（画像→路径→资源→闭环→评估，闭环回流），再展示 8 大模块。后三页用真实界面截图逐一演示核心模块。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重头戏：现场演示对话建像 + 启动工作流，制造一次审核不通过展示真实回环重试。这是最有说服力的"真实多智能体"证据。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核心模块③④：个性化路径（真实排序算法）+ 学-记-讲-测闭环。强调阶段测试 GATE，通关才点亮掌握，真正对应因材施教。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核心模块⑤⑥ + 加分项：即时辅导（按需生成）、过程评估（跨会话）、知识图谱、岗位对标+联网聚合。证明系统能力广度。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创新性与优势：用对比表格直观展示四维领先（个性化/可信/方法/评估/成本）。这页是拉分关键——别人没有、我们做到。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数字从真实 metrics-report 取，全部达标。三大主指标 + 跨领域验证（诚实呈现网络域略高）+ 性能成本。强调可复现：附复现命令。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对应"测试与安全性"：规范开发流程——195 条 pytest 用例 + tsc 0 报错；性能压测 P50/P90；消融/跨领域鲁棒性；JWT 权限 + 日志脱敏 + 内容安全。体现工程严谨。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商业价值与应用前景：落地场景（高校/职培/考证/企业内训）+ 受众 + 核心价值（边际成本¥0.02、规模化因材施教）+ 近中远期迭代路线。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收尾：感谢评委与团队，重申口号，主动引导提问方向（架构/多智能体/防幻觉），从容进入答辩问答环节。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146304" cy="91440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12161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9FB7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软件杯 2026 · 领域知识个性化资源生成与多智能体系统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16459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868680" y="272491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E0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多智能体协同驱动的个性化学习平台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68680" y="3346704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诊断学情 · 生成每一课 —— 让 AI 真正因材施教，让每一份学习内容都可溯源、可信。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4041648"/>
            <a:ext cx="2505456" cy="493776"/>
          </a:xfrm>
          <a:prstGeom prst="roundRect">
            <a:avLst>
              <a:gd name="adj" fmla="val 18519"/>
            </a:avLst>
          </a:prstGeom>
          <a:solidFill>
            <a:srgbClr val="1F3050"/>
          </a:solidFill>
          <a:ln w="12700">
            <a:solidFill>
              <a:srgbClr val="5B7F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41648"/>
            <a:ext cx="25054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真实多智能体协同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538728" y="4041648"/>
            <a:ext cx="2505456" cy="493776"/>
          </a:xfrm>
          <a:prstGeom prst="roundRect">
            <a:avLst>
              <a:gd name="adj" fmla="val 18519"/>
            </a:avLst>
          </a:prstGeom>
          <a:solidFill>
            <a:srgbClr val="1F3050"/>
          </a:solidFill>
          <a:ln w="12700">
            <a:solidFill>
              <a:srgbClr val="5B7F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38728" y="4041648"/>
            <a:ext cx="25054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防幻觉 · 幻觉率&lt;5%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08776" y="4041648"/>
            <a:ext cx="2505456" cy="493776"/>
          </a:xfrm>
          <a:prstGeom prst="roundRect">
            <a:avLst>
              <a:gd name="adj" fmla="val 18519"/>
            </a:avLst>
          </a:prstGeom>
          <a:solidFill>
            <a:srgbClr val="1F3050"/>
          </a:solidFill>
          <a:ln w="12700">
            <a:solidFill>
              <a:srgbClr val="5B7F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08776" y="4041648"/>
            <a:ext cx="25054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对话式动态画像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878824" y="4041648"/>
            <a:ext cx="2505456" cy="493776"/>
          </a:xfrm>
          <a:prstGeom prst="roundRect">
            <a:avLst>
              <a:gd name="adj" fmla="val 18519"/>
            </a:avLst>
          </a:prstGeom>
          <a:solidFill>
            <a:srgbClr val="1F3050"/>
          </a:solidFill>
          <a:ln w="12700">
            <a:solidFill>
              <a:srgbClr val="5B7F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78824" y="4041648"/>
            <a:ext cx="25054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学—记—讲—测闭环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4956048"/>
            <a:ext cx="10424160" cy="0"/>
          </a:xfrm>
          <a:prstGeom prst="line">
            <a:avLst/>
          </a:prstGeom>
          <a:noFill/>
          <a:ln w="12700">
            <a:solidFill>
              <a:srgbClr val="3347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138928"/>
            <a:ext cx="10424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参赛组别：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〔本科组 · 企业命题 / 自主命题〕      </a:t>
            </a:r>
            <a:pPr indent="0" marL="0">
              <a:buNone/>
            </a:pPr>
            <a:r>
              <a:rPr lang="en-US" sz="1250" dirty="0">
                <a:solidFill>
                  <a:srgbClr val="8FA0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答辩人：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〔答辩人姓名〕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68680" y="5504688"/>
            <a:ext cx="10424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参赛队伍：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〔队伍名称〕      </a:t>
            </a:r>
            <a:pPr indent="0" marL="0">
              <a:buNone/>
            </a:pPr>
            <a:r>
              <a:rPr lang="en-US" sz="1250" dirty="0">
                <a:solidFill>
                  <a:srgbClr val="8FA0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团队成员：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〔成员姓名〕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68680" y="5870448"/>
            <a:ext cx="10424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参赛院校：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〔学校名称〕      </a:t>
            </a:r>
            <a:pPr indent="0" marL="0">
              <a:buNone/>
            </a:pPr>
            <a:r>
              <a:rPr lang="en-US" sz="1250" dirty="0">
                <a:solidFill>
                  <a:srgbClr val="8FA0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指导教师：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〔指导教师〕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774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· 痛点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项目背景：从痛点到解决方案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325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9050">
            <a:solidFill>
              <a:srgbClr val="C2873F"/>
            </a:solidFill>
            <a:prstDash val="solid"/>
          </a:ln>
          <a:effectLst>
            <a:outerShdw sx="100000" sy="100000" kx="0" ky="0" algn="bl" rotWithShape="0" blurRad="76200" dist="25400" dir="5400000">
              <a:srgbClr val="C9BEA6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4813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87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1865376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资源千人一面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生成易幻觉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87952" y="1371600"/>
            <a:ext cx="38404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E6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572000" y="137160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9050">
            <a:solidFill>
              <a:srgbClr val="B5544B"/>
            </a:solidFill>
            <a:prstDash val="solid"/>
          </a:ln>
          <a:effectLst>
            <a:outerShdw sx="100000" sy="100000" kx="0" ky="0" algn="bl" rotWithShape="0" blurRad="76200" dist="25400" dir="5400000">
              <a:srgbClr val="C9BEA6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4813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54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现有方案不足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54880" y="1865376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统一难度顺序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生成不可溯源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19872" y="1371600"/>
            <a:ext cx="38404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E6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503920" y="137160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17243F"/>
          </a:solidFill>
          <a:ln w="19050">
            <a:solidFill>
              <a:srgbClr val="5B7F6E"/>
            </a:solidFill>
            <a:prstDash val="solid"/>
          </a:ln>
          <a:effectLst>
            <a:outerShdw sx="100000" sy="100000" kx="0" ky="0" algn="bl" rotWithShape="0" blurRad="76200" dist="25400" dir="5400000">
              <a:srgbClr val="C9BEA6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0" y="14813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E0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我们的解决方案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0" y="1865376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 + RAG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因材施教·可信生成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063240"/>
            <a:ext cx="54406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76200" dist="25400" dir="5400000">
              <a:srgbClr val="C9BEA6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063240"/>
            <a:ext cx="82296" cy="1508760"/>
          </a:xfrm>
          <a:prstGeom prst="rect">
            <a:avLst/>
          </a:prstGeom>
          <a:solidFill>
            <a:srgbClr val="C2873F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3191256"/>
            <a:ext cx="5129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痛点一 · 资源千人一面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41248" y="3538728"/>
            <a:ext cx="5129784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统一课程、统一难度、统一顺序，忽视个体的知识基础、认知风格与学习目标——"学了用不上、想学的没有"，效率低下。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3063240"/>
            <a:ext cx="54406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76200" dist="25400" dir="5400000">
              <a:srgbClr val="C9BEA6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63640" y="3063240"/>
            <a:ext cx="82296" cy="1508760"/>
          </a:xfrm>
          <a:prstGeom prst="rect">
            <a:avLst/>
          </a:prstGeom>
          <a:solidFill>
            <a:srgbClr val="B5544B"/>
          </a:solidFill>
          <a:ln/>
        </p:spPr>
      </p:sp>
      <p:sp>
        <p:nvSpPr>
          <p:cNvPr id="25" name="Text 23"/>
          <p:cNvSpPr/>
          <p:nvPr/>
        </p:nvSpPr>
        <p:spPr>
          <a:xfrm>
            <a:off x="6464808" y="3191256"/>
            <a:ext cx="5129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痛点二 · AI 生成易幻觉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64808" y="3538728"/>
            <a:ext cx="5129784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大模型直接生成讲义常含事实错误、来源不可考；教育场景一旦"一本正经地胡说"，轻则误导、重则失信，无法落地教学。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475488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17243F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88289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E0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因材施教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14400" y="5248656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D2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对话建画像 → 能力定顺序、偏好定形式，不同的人不同路径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34840" y="488289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E0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可信生成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434840" y="5248656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D2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逐句接地 + 多智能体审核，幻觉率&lt;5%、来源可溯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955280" y="488289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E0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科学闭环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955280" y="5248656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D2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康奈尔+费曼+阶段测试做进产品，学—记—讲—测成环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· 领域知识个性化资源生成与多智能体系统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595360" y="64739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软件杯 2026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774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· 技术选型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总体架构：全栈自建、轻量可跑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325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CFE0D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426464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前端交互层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54680" y="1426464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18 + TypeScript + Vite · Zustand · Framer/GSAP · ECharts/Mermaid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304288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D6E0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359152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服务接口层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54680" y="2359152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· 统一信封 {code,message,data,traceId} · JWT · 异步任务 · 日志脱敏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236976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7D9C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29184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多智能体编排层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54680" y="3291840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 五节点：诊断 → 检索 → 生成 → 审核 → 决策（重试/降级回环）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4169664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CFE0D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24528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检索增强层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54680" y="4224528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Chroma 向量库 · bge 本地嵌入 · 逐句接地校验 · 30+ 文档 / 153 切片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5102352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DDD6C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157216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数据与模型层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54680" y="5157216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· 内存 TTL 会话 · LLMClient 适配（mock/DeepSeek/Qwen 可切换）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098280" y="137160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17243F"/>
          </a:solidFill>
          <a:ln/>
        </p:spPr>
      </p:sp>
      <p:sp>
        <p:nvSpPr>
          <p:cNvPr id="24" name="Text 22"/>
          <p:cNvSpPr/>
          <p:nvPr/>
        </p:nvSpPr>
        <p:spPr>
          <a:xfrm>
            <a:off x="9235440" y="151790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E0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技术选型亮点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253728" y="1920240"/>
            <a:ext cx="2377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LangGraph 多智能体编排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接地抑制幻觉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Mock-first：无 Key 跑全链路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轻量栈：Chroma+SQLite 单机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适配层·模型可切换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WorkflowTrace 全轨迹可观测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57150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生产替换路径（README 说明）：Chroma→Milvus · SQLite→PostgreSQL · 内存会话→Redis，业务代码零改动平滑升级。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· 领域知识个性化资源生成与多智能体系统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595360" y="64739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软件杯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774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DESIGN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多智能体协同：明确分工 · 真实编排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325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3310128" cy="1152144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71600"/>
            <a:ext cx="91440" cy="115214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10" name="Text 8"/>
          <p:cNvSpPr/>
          <p:nvPr/>
        </p:nvSpPr>
        <p:spPr>
          <a:xfrm>
            <a:off x="859536" y="1481328"/>
            <a:ext cx="2971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学情诊断 Agent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59536" y="18288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对话采集+诊断微测，构建 6 维异质画像；不确定维度标低置信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24528" y="1371600"/>
            <a:ext cx="3310128" cy="1152144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24528" y="1371600"/>
            <a:ext cx="91440" cy="1152144"/>
          </a:xfrm>
          <a:prstGeom prst="rect">
            <a:avLst/>
          </a:prstGeom>
          <a:solidFill>
            <a:srgbClr val="2E4A78"/>
          </a:solidFill>
          <a:ln/>
        </p:spPr>
      </p:sp>
      <p:sp>
        <p:nvSpPr>
          <p:cNvPr id="14" name="Text 12"/>
          <p:cNvSpPr/>
          <p:nvPr/>
        </p:nvSpPr>
        <p:spPr>
          <a:xfrm>
            <a:off x="4443984" y="1481328"/>
            <a:ext cx="2971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领域知识生成 Agent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443984" y="18288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依画像生成适配难度的讲义/图解/代码/测试，贴画像给不同深度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670048"/>
            <a:ext cx="3310128" cy="1152144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2670048"/>
            <a:ext cx="91440" cy="1152144"/>
          </a:xfrm>
          <a:prstGeom prst="rect">
            <a:avLst/>
          </a:prstGeom>
          <a:solidFill>
            <a:srgbClr val="C2873F"/>
          </a:solidFill>
          <a:ln/>
        </p:spPr>
      </p:sp>
      <p:sp>
        <p:nvSpPr>
          <p:cNvPr id="18" name="Text 16"/>
          <p:cNvSpPr/>
          <p:nvPr/>
        </p:nvSpPr>
        <p:spPr>
          <a:xfrm>
            <a:off x="859536" y="2779776"/>
            <a:ext cx="2971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内容审核校验 Agent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59536" y="312724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RAG 逐句接地校验幻觉率，超阈值打回重生成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24528" y="2670048"/>
            <a:ext cx="3310128" cy="1152144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24528" y="2670048"/>
            <a:ext cx="91440" cy="1152144"/>
          </a:xfrm>
          <a:prstGeom prst="rect">
            <a:avLst/>
          </a:prstGeom>
          <a:solidFill>
            <a:srgbClr val="46624F"/>
          </a:solidFill>
          <a:ln/>
        </p:spPr>
      </p:sp>
      <p:sp>
        <p:nvSpPr>
          <p:cNvPr id="22" name="Text 20"/>
          <p:cNvSpPr/>
          <p:nvPr/>
        </p:nvSpPr>
        <p:spPr>
          <a:xfrm>
            <a:off x="4443984" y="2779776"/>
            <a:ext cx="2971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学习路径规划 Agent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443984" y="312724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按掌握度打分排序：薄弱优先、已掌握后置，偏好定形式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023360"/>
            <a:ext cx="6894576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4023360"/>
            <a:ext cx="91440" cy="1097280"/>
          </a:xfrm>
          <a:prstGeom prst="rect">
            <a:avLst/>
          </a:prstGeom>
          <a:solidFill>
            <a:srgbClr val="B5544B"/>
          </a:solidFill>
          <a:ln/>
        </p:spPr>
      </p:sp>
      <p:sp>
        <p:nvSpPr>
          <p:cNvPr id="26" name="Text 24"/>
          <p:cNvSpPr/>
          <p:nvPr/>
        </p:nvSpPr>
        <p:spPr>
          <a:xfrm>
            <a:off x="859536" y="4133088"/>
            <a:ext cx="6492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学习过程评估 Agent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59536" y="4480560"/>
            <a:ext cx="6537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跨会话持续运行，累积做题/进度/笔记行为，产出多维学情评估与动态调整建议（独立 Agent，非编排节点）。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772400" y="1371600"/>
            <a:ext cx="3931920" cy="4526280"/>
          </a:xfrm>
          <a:prstGeom prst="roundRect">
            <a:avLst>
              <a:gd name="adj" fmla="val 2326"/>
            </a:avLst>
          </a:prstGeom>
          <a:solidFill>
            <a:srgbClr val="17243F"/>
          </a:solidFill>
          <a:ln/>
        </p:spPr>
      </p:sp>
      <p:sp>
        <p:nvSpPr>
          <p:cNvPr id="29" name="Text 27"/>
          <p:cNvSpPr/>
          <p:nvPr/>
        </p:nvSpPr>
        <p:spPr>
          <a:xfrm>
            <a:off x="7973568" y="151790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E0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 状态机编排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973568" y="19202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7D2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② ③ 由 LangGraph 编排为单次生成工作流；④ ⑤ 作为独立 Agent 长期运行。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973568" y="2697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 → 检索 → 生成 → 审核 → 决策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73568" y="3090672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7D2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审核不通过 → 生成↔审核 间真实回环重试；超限降级兜底，保证可信产物交付。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973568" y="3977640"/>
            <a:ext cx="3529584" cy="1737360"/>
          </a:xfrm>
          <a:prstGeom prst="roundRect">
            <a:avLst>
              <a:gd name="adj" fmla="val 4211"/>
            </a:avLst>
          </a:prstGeom>
          <a:solidFill>
            <a:srgbClr val="1F3050"/>
          </a:solidFill>
          <a:ln w="12700">
            <a:solidFill>
              <a:srgbClr val="5B7F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38160" y="4078224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E0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消融实验佐证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138160" y="4407408"/>
            <a:ext cx="32461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去掉 RAG 检索，幻觉率由 0.059 升至 0.155（Δ+0.096）——接地是抑制幻觉的主导机制。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· 领域知识个性化资源生成与多智能体系统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595360" y="64739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软件杯 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774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ALGORITHMS · 技术硬核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核心算法与关键公式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325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5486400" cy="1499616"/>
          </a:xfrm>
          <a:prstGeom prst="roundRect">
            <a:avLst>
              <a:gd name="adj" fmla="val 4878"/>
            </a:avLst>
          </a:prstGeom>
          <a:solidFill>
            <a:srgbClr val="F1ECE0"/>
          </a:solidFill>
          <a:ln w="12700">
            <a:solidFill>
              <a:srgbClr val="4662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417320"/>
            <a:ext cx="5157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RAG 逐句接地 / 幻觉率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04672" y="1728216"/>
            <a:ext cx="5157216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C28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sim(s) = max  cos( emb(s), emb(d) 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C28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接地  ⟺  sim(s) ≥ 0.6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C28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幻觉率 = |未接地句| / |总句|   → 0.0428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5486400" cy="1499616"/>
          </a:xfrm>
          <a:prstGeom prst="roundRect">
            <a:avLst>
              <a:gd name="adj" fmla="val 4878"/>
            </a:avLst>
          </a:prstGeom>
          <a:solidFill>
            <a:srgbClr val="F1ECE0"/>
          </a:solidFill>
          <a:ln w="12700">
            <a:solidFill>
              <a:srgbClr val="4662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3200400"/>
            <a:ext cx="5157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难度适配率 / 知识覆盖率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3511296"/>
            <a:ext cx="5157216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C28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适配率 = 三档难度分「有序对」正确率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C28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= 正确序对 / 总序对   → 1.00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C28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覆盖率 = 命中核心概念 / 概念清单 → 1.00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55080" y="1325880"/>
            <a:ext cx="5349240" cy="2121408"/>
          </a:xfrm>
          <a:prstGeom prst="roundRect">
            <a:avLst>
              <a:gd name="adj" fmla="val 3448"/>
            </a:avLst>
          </a:prstGeom>
          <a:solidFill>
            <a:srgbClr val="F1ECE0"/>
          </a:solidFill>
          <a:ln w="12700">
            <a:solidFill>
              <a:srgbClr val="2E4A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1417320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4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学习路径优先级打分（升序，分越小越先学）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19672" y="1728216"/>
            <a:ext cx="502005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C28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score(kp) = lesson_seq            # 先修骨架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C28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+ 100            若 已达标/已掌握  # 大幅后置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C28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+ 0.8·(能力分/100) 若 薄弱        # 越低越前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C28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± 0.4            基础课×画像基础联动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C28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− 0.8·(岗位需求/100)  目标岗位高需求前置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55080" y="3611880"/>
            <a:ext cx="5349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防幻觉三道防线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55080" y="3931920"/>
            <a:ext cx="5349240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3931920"/>
            <a:ext cx="73152" cy="585216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3968496"/>
            <a:ext cx="2194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第一道 · RAG 接地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0" y="3968496"/>
            <a:ext cx="2971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生成全程基于检索真实语料，逐句可溯源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55080" y="4608576"/>
            <a:ext cx="5349240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4608576"/>
            <a:ext cx="73152" cy="585216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4645152"/>
            <a:ext cx="2194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第二道 · Critic 审核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0" y="4645152"/>
            <a:ext cx="2971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 Agent 逐句校验，未接地句计入幻觉率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55080" y="5285232"/>
            <a:ext cx="5349240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55080" y="5285232"/>
            <a:ext cx="73152" cy="585216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5321808"/>
            <a:ext cx="2194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第三道 · 重试降级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0" y="5321808"/>
            <a:ext cx="2971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超阈值回炉重生成，超限降级，绝不交付不可信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58064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接地阈值 0.6（与评测同源口径） · ② 三档难度由难度评分确定性区分 · ③ 路径打分由 planner_agent 按画像+掌握度确定性计算（无随机）。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· 领域知识个性化资源生成与多智能体系统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595360" y="64739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软件杯 2026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774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· 功能演示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功能模块总览与业务主线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325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1993392" cy="676656"/>
          </a:xfrm>
          <a:prstGeom prst="roundRect">
            <a:avLst>
              <a:gd name="adj" fmla="val 13514"/>
            </a:avLst>
          </a:prstGeom>
          <a:solidFill>
            <a:srgbClr val="5B7F6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17320"/>
            <a:ext cx="199339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画像诊断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633472" y="1417320"/>
            <a:ext cx="274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6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889504" y="1417320"/>
            <a:ext cx="1993392" cy="676656"/>
          </a:xfrm>
          <a:prstGeom prst="roundRect">
            <a:avLst>
              <a:gd name="adj" fmla="val 13514"/>
            </a:avLst>
          </a:prstGeom>
          <a:solidFill>
            <a:srgbClr val="5B7F6E"/>
          </a:solidFill>
          <a:ln/>
        </p:spPr>
      </p:sp>
      <p:sp>
        <p:nvSpPr>
          <p:cNvPr id="12" name="Text 10"/>
          <p:cNvSpPr/>
          <p:nvPr/>
        </p:nvSpPr>
        <p:spPr>
          <a:xfrm>
            <a:off x="2889504" y="1417320"/>
            <a:ext cx="199339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学习路径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82896" y="1417320"/>
            <a:ext cx="274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6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138928" y="1417320"/>
            <a:ext cx="1993392" cy="676656"/>
          </a:xfrm>
          <a:prstGeom prst="roundRect">
            <a:avLst>
              <a:gd name="adj" fmla="val 13514"/>
            </a:avLst>
          </a:prstGeom>
          <a:solidFill>
            <a:srgbClr val="C2873F"/>
          </a:solidFill>
          <a:ln/>
        </p:spPr>
      </p:sp>
      <p:sp>
        <p:nvSpPr>
          <p:cNvPr id="15" name="Text 13"/>
          <p:cNvSpPr/>
          <p:nvPr/>
        </p:nvSpPr>
        <p:spPr>
          <a:xfrm>
            <a:off x="5138928" y="1417320"/>
            <a:ext cx="199339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资源生成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132320" y="1417320"/>
            <a:ext cx="274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6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88352" y="1417320"/>
            <a:ext cx="1993392" cy="676656"/>
          </a:xfrm>
          <a:prstGeom prst="roundRect">
            <a:avLst>
              <a:gd name="adj" fmla="val 13514"/>
            </a:avLst>
          </a:prstGeom>
          <a:solidFill>
            <a:srgbClr val="5B7F6E"/>
          </a:solidFill>
          <a:ln/>
        </p:spPr>
      </p:sp>
      <p:sp>
        <p:nvSpPr>
          <p:cNvPr id="18" name="Text 16"/>
          <p:cNvSpPr/>
          <p:nvPr/>
        </p:nvSpPr>
        <p:spPr>
          <a:xfrm>
            <a:off x="7388352" y="1417320"/>
            <a:ext cx="199339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学习闭环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381744" y="1417320"/>
            <a:ext cx="274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6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637776" y="1417320"/>
            <a:ext cx="1993392" cy="676656"/>
          </a:xfrm>
          <a:prstGeom prst="roundRect">
            <a:avLst>
              <a:gd name="adj" fmla="val 13514"/>
            </a:avLst>
          </a:prstGeom>
          <a:solidFill>
            <a:srgbClr val="5B7F6E"/>
          </a:solidFill>
          <a:ln/>
        </p:spPr>
      </p:sp>
      <p:sp>
        <p:nvSpPr>
          <p:cNvPr id="21" name="Text 19"/>
          <p:cNvSpPr/>
          <p:nvPr/>
        </p:nvSpPr>
        <p:spPr>
          <a:xfrm>
            <a:off x="9637776" y="1417320"/>
            <a:ext cx="199339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过程评估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2212848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⟲ 画像/掌握度变化 → 路径与资源自动重算（学情驱动的闭环回流）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2743200"/>
            <a:ext cx="261518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50800" dist="25400" dir="5400000">
              <a:srgbClr val="C9BEA6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2743200"/>
            <a:ext cx="2615184" cy="73152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" y="290779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对话式画像诊断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86384" y="3419856"/>
            <a:ext cx="235915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三入口（做题/自述/跳过）· 6 维异质画像 · 随学随新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38144" y="2743200"/>
            <a:ext cx="261518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50800" dist="25400" dir="5400000">
              <a:srgbClr val="C9BEA6">
                <a:alpha val="2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38144" y="2743200"/>
            <a:ext cx="2615184" cy="73152"/>
          </a:xfrm>
          <a:prstGeom prst="rect">
            <a:avLst/>
          </a:prstGeom>
          <a:solidFill>
            <a:srgbClr val="2E4A78"/>
          </a:solidFill>
          <a:ln/>
        </p:spPr>
      </p:sp>
      <p:sp>
        <p:nvSpPr>
          <p:cNvPr id="29" name="Text 27"/>
          <p:cNvSpPr/>
          <p:nvPr/>
        </p:nvSpPr>
        <p:spPr>
          <a:xfrm>
            <a:off x="3584448" y="290779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个性化学习路径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584448" y="3419856"/>
            <a:ext cx="235915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能力定顺序 · 偏好定形式 · 画像变路径变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36208" y="2743200"/>
            <a:ext cx="261518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50800" dist="25400" dir="5400000">
              <a:srgbClr val="C9BEA6">
                <a:alpha val="2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36208" y="2743200"/>
            <a:ext cx="2615184" cy="73152"/>
          </a:xfrm>
          <a:prstGeom prst="rect">
            <a:avLst/>
          </a:prstGeom>
          <a:solidFill>
            <a:srgbClr val="C2873F"/>
          </a:solidFill>
          <a:ln/>
        </p:spPr>
      </p:sp>
      <p:sp>
        <p:nvSpPr>
          <p:cNvPr id="33" name="Text 31"/>
          <p:cNvSpPr/>
          <p:nvPr/>
        </p:nvSpPr>
        <p:spPr>
          <a:xfrm>
            <a:off x="6382512" y="290779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多模态资源生成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82512" y="3419856"/>
            <a:ext cx="235915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讲义/思维导图/代码/图解/视频/测试一站式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034272" y="2743200"/>
            <a:ext cx="261518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50800" dist="25400" dir="5400000">
              <a:srgbClr val="C9BEA6">
                <a:alpha val="2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034272" y="2743200"/>
            <a:ext cx="2615184" cy="73152"/>
          </a:xfrm>
          <a:prstGeom prst="rect">
            <a:avLst/>
          </a:prstGeom>
          <a:solidFill>
            <a:srgbClr val="46624F"/>
          </a:solidFill>
          <a:ln/>
        </p:spPr>
      </p:sp>
      <p:sp>
        <p:nvSpPr>
          <p:cNvPr id="37" name="Text 35"/>
          <p:cNvSpPr/>
          <p:nvPr/>
        </p:nvSpPr>
        <p:spPr>
          <a:xfrm>
            <a:off x="9180576" y="290779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学—记—讲—测闭环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180576" y="3419856"/>
            <a:ext cx="235915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康奈尔笔记 + 费曼讲解 + 阶段测试 GATE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" y="4370832"/>
            <a:ext cx="261518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50800" dist="25400" dir="5400000">
              <a:srgbClr val="C9BEA6">
                <a:alpha val="2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0080" y="4370832"/>
            <a:ext cx="2615184" cy="73152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1" name="Text 39"/>
          <p:cNvSpPr/>
          <p:nvPr/>
        </p:nvSpPr>
        <p:spPr>
          <a:xfrm>
            <a:off x="786384" y="4535424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智能即时辅导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86384" y="5047488"/>
            <a:ext cx="235915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"我没懂"→ 识别问题 → 按需生成针对性资源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38144" y="4370832"/>
            <a:ext cx="261518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50800" dist="25400" dir="5400000">
              <a:srgbClr val="C9BEA6">
                <a:alpha val="2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438144" y="4370832"/>
            <a:ext cx="2615184" cy="73152"/>
          </a:xfrm>
          <a:prstGeom prst="rect">
            <a:avLst/>
          </a:prstGeom>
          <a:solidFill>
            <a:srgbClr val="2E4A78"/>
          </a:solidFill>
          <a:ln/>
        </p:spPr>
      </p:sp>
      <p:sp>
        <p:nvSpPr>
          <p:cNvPr id="45" name="Text 43"/>
          <p:cNvSpPr/>
          <p:nvPr/>
        </p:nvSpPr>
        <p:spPr>
          <a:xfrm>
            <a:off x="3584448" y="4535424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学习过程评估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584448" y="5047488"/>
            <a:ext cx="235915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四维量化 + 薄弱点定位 + 动态调整建议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36208" y="4370832"/>
            <a:ext cx="261518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50800" dist="25400" dir="5400000">
              <a:srgbClr val="C9BEA6">
                <a:alpha val="2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236208" y="4370832"/>
            <a:ext cx="2615184" cy="73152"/>
          </a:xfrm>
          <a:prstGeom prst="rect">
            <a:avLst/>
          </a:prstGeom>
          <a:solidFill>
            <a:srgbClr val="C2873F"/>
          </a:solidFill>
          <a:ln/>
        </p:spPr>
      </p:sp>
      <p:sp>
        <p:nvSpPr>
          <p:cNvPr id="49" name="Text 47"/>
          <p:cNvSpPr/>
          <p:nvPr/>
        </p:nvSpPr>
        <p:spPr>
          <a:xfrm>
            <a:off x="6382512" y="4535424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知识图谱可视化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382512" y="5047488"/>
            <a:ext cx="235915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掌握/学习中/待学/盲区四态拓扑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9034272" y="4370832"/>
            <a:ext cx="261518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50800" dist="25400" dir="5400000">
              <a:srgbClr val="C9BEA6">
                <a:alpha val="2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9034272" y="4370832"/>
            <a:ext cx="2615184" cy="73152"/>
          </a:xfrm>
          <a:prstGeom prst="rect">
            <a:avLst/>
          </a:prstGeom>
          <a:solidFill>
            <a:srgbClr val="46624F"/>
          </a:solidFill>
          <a:ln/>
        </p:spPr>
      </p:sp>
      <p:sp>
        <p:nvSpPr>
          <p:cNvPr id="53" name="Text 51"/>
          <p:cNvSpPr/>
          <p:nvPr/>
        </p:nvSpPr>
        <p:spPr>
          <a:xfrm>
            <a:off x="9180576" y="4535424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岗位对标 + 联网聚合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9180576" y="5047488"/>
            <a:ext cx="235915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匹配度+能力缺口 · 联网搜优质资源 AI 评分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· 领域知识个性化资源生成与多智能体系统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595360" y="64739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软件杯 2026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774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功能演示 01 · 画像 + 资源生成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对话建像 + LangGraph 真实协同生成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325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564185" y="1271016"/>
            <a:ext cx="5409590" cy="3264408"/>
          </a:xfrm>
          <a:prstGeom prst="roundRect">
            <a:avLst>
              <a:gd name="adj" fmla="val 2241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sx="100000" sy="100000" kx="0" ky="0" algn="bl" rotWithShape="0" blurRad="114300" dist="38100" dir="5400000">
              <a:srgbClr val="7A6A4A">
                <a:alpha val="28000"/>
              </a:srgbClr>
            </a:outerShdw>
          </a:effectLst>
        </p:spPr>
      </p:sp>
      <p:pic>
        <p:nvPicPr>
          <p:cNvPr id="9" name="Image 0" descr="F:\软件杯\docs\ppt-assets\shots\06-profile-chat-progr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049" y="1325880"/>
            <a:ext cx="5299862" cy="31546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302045" y="1271016"/>
            <a:ext cx="5409590" cy="3264408"/>
          </a:xfrm>
          <a:prstGeom prst="roundRect">
            <a:avLst>
              <a:gd name="adj" fmla="val 2241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sx="100000" sy="100000" kx="0" ky="0" algn="bl" rotWithShape="0" blurRad="114300" dist="38100" dir="5400000">
              <a:srgbClr val="7A6A4A">
                <a:alpha val="28000"/>
              </a:srgbClr>
            </a:outerShdw>
          </a:effectLst>
        </p:spPr>
      </p:sp>
      <p:pic>
        <p:nvPicPr>
          <p:cNvPr id="11" name="Image 1" descr="F:\软件杯\docs\ppt-assets\shots\08b-workflow-d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6909" y="1325880"/>
            <a:ext cx="5299862" cy="31546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4526280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对话式画像：自然语言抽取特征，右侧 6 维画像随聊随长；不确定维度标低置信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263640" y="4526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多智能体生成：诊断→检索→生成→审核→决策五节点真实点亮，审核不通过真实回环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0080" y="512064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17243F"/>
          </a:solidFill>
          <a:ln/>
        </p:spPr>
      </p:sp>
      <p:sp>
        <p:nvSpPr>
          <p:cNvPr id="15" name="Text 11"/>
          <p:cNvSpPr/>
          <p:nvPr/>
        </p:nvSpPr>
        <p:spPr>
          <a:xfrm>
            <a:off x="868680" y="512064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8FE0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图文并茂 · 实际运行效果：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最终讲义页实时标注"已校验 · 幻觉率&lt;5%"并显示 RAG 引用文档数，sources 可溯源到具体文档；WorkflowTrace 留存 327 条真实轨迹，可复现、可观测。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· 领域知识个性化资源生成与多智能体系统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8595360" y="64739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软件杯 2026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774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功能演示 02 · 路径 + 学习闭环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个性化路径 + 学—记—讲—测闭环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325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448056" y="1472402"/>
            <a:ext cx="4041648" cy="2450157"/>
          </a:xfrm>
          <a:prstGeom prst="roundRect">
            <a:avLst>
              <a:gd name="adj" fmla="val 2986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sx="100000" sy="100000" kx="0" ky="0" algn="bl" rotWithShape="0" blurRad="114300" dist="38100" dir="5400000">
              <a:srgbClr val="7A6A4A">
                <a:alpha val="28000"/>
              </a:srgbClr>
            </a:outerShdw>
          </a:effectLst>
        </p:spPr>
      </p:sp>
      <p:pic>
        <p:nvPicPr>
          <p:cNvPr id="9" name="Image 0" descr="F:\软件杯\docs\ppt-assets\shots\09-learning-path-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27266"/>
            <a:ext cx="3931920" cy="234042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517136" y="1554045"/>
            <a:ext cx="3767328" cy="2286871"/>
          </a:xfrm>
          <a:prstGeom prst="roundRect">
            <a:avLst>
              <a:gd name="adj" fmla="val 3199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sx="100000" sy="100000" kx="0" ky="0" algn="bl" rotWithShape="0" blurRad="114300" dist="38100" dir="5400000">
              <a:srgbClr val="7A6A4A">
                <a:alpha val="28000"/>
              </a:srgbClr>
            </a:outerShdw>
          </a:effectLst>
        </p:spPr>
      </p:sp>
      <p:pic>
        <p:nvPicPr>
          <p:cNvPr id="11" name="Image 1" descr="F:\软件杯\docs\ppt-assets\shots\13-cornell-not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08909"/>
            <a:ext cx="3657600" cy="217714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266176" y="1594866"/>
            <a:ext cx="3630168" cy="2205228"/>
          </a:xfrm>
          <a:prstGeom prst="roundRect">
            <a:avLst>
              <a:gd name="adj" fmla="val 3317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sx="100000" sy="100000" kx="0" ky="0" algn="bl" rotWithShape="0" blurRad="114300" dist="38100" dir="5400000">
              <a:srgbClr val="7A6A4A">
                <a:alpha val="28000"/>
              </a:srgbClr>
            </a:outerShdw>
          </a:effectLst>
        </p:spPr>
      </p:sp>
      <p:pic>
        <p:nvPicPr>
          <p:cNvPr id="13" name="Image 2" descr="F:\软件杯\docs\ppt-assets\shots\14-feynm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649730"/>
            <a:ext cx="3520440" cy="20955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2920" y="411480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路径：薄弱优先、已掌握后置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572000" y="411480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康奈尔笔记：结构化记录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8321040" y="4114800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费曼讲解：以讲代学暴露缺口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40080" y="4617720"/>
            <a:ext cx="2103120" cy="512064"/>
          </a:xfrm>
          <a:prstGeom prst="roundRect">
            <a:avLst>
              <a:gd name="adj" fmla="val 50000"/>
            </a:avLst>
          </a:prstGeom>
          <a:solidFill>
            <a:srgbClr val="5B7F6E"/>
          </a:solidFill>
          <a:ln/>
        </p:spPr>
      </p:sp>
      <p:sp>
        <p:nvSpPr>
          <p:cNvPr id="18" name="Text 13"/>
          <p:cNvSpPr/>
          <p:nvPr/>
        </p:nvSpPr>
        <p:spPr>
          <a:xfrm>
            <a:off x="640080" y="4617720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输入·看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2743200" y="4617720"/>
            <a:ext cx="2926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E6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20" name="Shape 15"/>
          <p:cNvSpPr/>
          <p:nvPr/>
        </p:nvSpPr>
        <p:spPr>
          <a:xfrm>
            <a:off x="3035808" y="4617720"/>
            <a:ext cx="2103120" cy="512064"/>
          </a:xfrm>
          <a:prstGeom prst="roundRect">
            <a:avLst>
              <a:gd name="adj" fmla="val 50000"/>
            </a:avLst>
          </a:prstGeom>
          <a:solidFill>
            <a:srgbClr val="5B7F6E"/>
          </a:solidFill>
          <a:ln/>
        </p:spPr>
      </p:sp>
      <p:sp>
        <p:nvSpPr>
          <p:cNvPr id="21" name="Text 16"/>
          <p:cNvSpPr/>
          <p:nvPr/>
        </p:nvSpPr>
        <p:spPr>
          <a:xfrm>
            <a:off x="3035808" y="4617720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康奈尔·记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5138928" y="4617720"/>
            <a:ext cx="2926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E6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5431536" y="4617720"/>
            <a:ext cx="2103120" cy="512064"/>
          </a:xfrm>
          <a:prstGeom prst="roundRect">
            <a:avLst>
              <a:gd name="adj" fmla="val 50000"/>
            </a:avLst>
          </a:prstGeom>
          <a:solidFill>
            <a:srgbClr val="5B7F6E"/>
          </a:solidFill>
          <a:ln/>
        </p:spPr>
      </p:sp>
      <p:sp>
        <p:nvSpPr>
          <p:cNvPr id="24" name="Text 19"/>
          <p:cNvSpPr/>
          <p:nvPr/>
        </p:nvSpPr>
        <p:spPr>
          <a:xfrm>
            <a:off x="5431536" y="4617720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费曼·讲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7534656" y="4617720"/>
            <a:ext cx="2926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E6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26" name="Shape 21"/>
          <p:cNvSpPr/>
          <p:nvPr/>
        </p:nvSpPr>
        <p:spPr>
          <a:xfrm>
            <a:off x="7827264" y="4617720"/>
            <a:ext cx="2103120" cy="512064"/>
          </a:xfrm>
          <a:prstGeom prst="roundRect">
            <a:avLst>
              <a:gd name="adj" fmla="val 50000"/>
            </a:avLst>
          </a:prstGeom>
          <a:solidFill>
            <a:srgbClr val="C2873F"/>
          </a:solidFill>
          <a:ln/>
        </p:spPr>
      </p:sp>
      <p:sp>
        <p:nvSpPr>
          <p:cNvPr id="27" name="Text 22"/>
          <p:cNvSpPr/>
          <p:nvPr/>
        </p:nvSpPr>
        <p:spPr>
          <a:xfrm>
            <a:off x="7827264" y="4617720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阶段测试·测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640080" y="5285232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17243F"/>
          </a:solidFill>
          <a:ln/>
        </p:spPr>
      </p:sp>
      <p:sp>
        <p:nvSpPr>
          <p:cNvPr id="29" name="Text 24"/>
          <p:cNvSpPr/>
          <p:nvPr/>
        </p:nvSpPr>
        <p:spPr>
          <a:xfrm>
            <a:off x="868680" y="5285232"/>
            <a:ext cx="10607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阶段测试是独立检验 GATE：只有通过（≥60 分）才点亮"已掌握"并推进学习路径——"通关才算掌握"，杜绝自我感觉良好。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· 领域知识个性化资源生成与多智能体系统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8595360" y="64739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软件杯 2026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774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功能演示 03 · 辅导/评估/扩展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即时辅导 · 过程评估 · 多模态扩展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325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603504" y="1611412"/>
            <a:ext cx="2862072" cy="1733223"/>
          </a:xfrm>
          <a:prstGeom prst="roundRect">
            <a:avLst>
              <a:gd name="adj" fmla="val 4221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sx="100000" sy="100000" kx="0" ky="0" algn="bl" rotWithShape="0" blurRad="114300" dist="38100" dir="5400000">
              <a:srgbClr val="7A6A4A">
                <a:alpha val="28000"/>
              </a:srgbClr>
            </a:outerShdw>
          </a:effectLst>
        </p:spPr>
      </p:sp>
      <p:pic>
        <p:nvPicPr>
          <p:cNvPr id="9" name="Image 0" descr="F:\软件杯\docs\ppt-assets\shots\16-instant-tutor-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7988"/>
            <a:ext cx="2788920" cy="166007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566160" y="1554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智能即时辅导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566160" y="214884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描述卡点 → 识别问题 → 按需生成针对性资源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72784" y="1611412"/>
            <a:ext cx="2862072" cy="1733223"/>
          </a:xfrm>
          <a:prstGeom prst="roundRect">
            <a:avLst>
              <a:gd name="adj" fmla="val 4221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sx="100000" sy="100000" kx="0" ky="0" algn="bl" rotWithShape="0" blurRad="114300" dist="38100" dir="5400000">
              <a:srgbClr val="7A6A4A">
                <a:alpha val="28000"/>
              </a:srgbClr>
            </a:outerShdw>
          </a:effectLst>
        </p:spPr>
      </p:sp>
      <p:pic>
        <p:nvPicPr>
          <p:cNvPr id="13" name="Image 1" descr="F:\软件杯\docs\ppt-assets\shots\03-dashboard-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7988"/>
            <a:ext cx="2788920" cy="166007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235440" y="1554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学习过程评估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9235440" y="214884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四维量化 + 薄弱点定位 + 动态调整建议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3504" y="4043716"/>
            <a:ext cx="2862072" cy="1733223"/>
          </a:xfrm>
          <a:prstGeom prst="roundRect">
            <a:avLst>
              <a:gd name="adj" fmla="val 4221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sx="100000" sy="100000" kx="0" ky="0" algn="bl" rotWithShape="0" blurRad="114300" dist="38100" dir="5400000">
              <a:srgbClr val="7A6A4A">
                <a:alpha val="28000"/>
              </a:srgbClr>
            </a:outerShdw>
          </a:effectLst>
        </p:spPr>
      </p:sp>
      <p:pic>
        <p:nvPicPr>
          <p:cNvPr id="17" name="Image 2" descr="F:\软件杯\docs\ppt-assets\shots\18-knowledge-grap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080292"/>
            <a:ext cx="2788920" cy="166007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566160" y="398678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知识图谱可视化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3566160" y="4581144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掌握/学习中/待学/盲区四态拓扑一目了然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272784" y="4043716"/>
            <a:ext cx="2862072" cy="1733223"/>
          </a:xfrm>
          <a:prstGeom prst="roundRect">
            <a:avLst>
              <a:gd name="adj" fmla="val 4221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sx="100000" sy="100000" kx="0" ky="0" algn="bl" rotWithShape="0" blurRad="114300" dist="38100" dir="5400000">
              <a:srgbClr val="7A6A4A">
                <a:alpha val="28000"/>
              </a:srgbClr>
            </a:outerShdw>
          </a:effectLst>
        </p:spPr>
      </p:sp>
      <p:pic>
        <p:nvPicPr>
          <p:cNvPr id="21" name="Image 3" descr="F:\软件杯\docs\ppt-assets\shots\19-job-mat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080292"/>
            <a:ext cx="2788920" cy="166007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35440" y="398678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岗位对标 + 联网聚合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235440" y="4581144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匹配度 + 能力缺口 · 联网优质资源 AI 评分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· 领域知识个性化资源生成与多智能体系统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8595360" y="64739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软件杯 2026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774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· 创新性与优势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横向对比：四维领先传统与通用方案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325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926080"/>
                <a:gridCol w="27432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对比维度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传统在线学习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 AI 问答/生成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智学中枢（本作品）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66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个性化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千人一面、固定课程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仅会话级、无画像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66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维画像·能力定序·偏好定形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66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内容可信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人工制作、静态更新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易幻觉、来源不可溯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66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RAG 接地·幻觉&lt;5%·可溯源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66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学习方法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看视频/读文档为主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一问一答、无方法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66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学—记—讲—测闭环 + 测试 GATE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66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过程评估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 / 仅完成度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66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四维评估 + 动态调整建议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66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 / 效率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优质内容制作昂贵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66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≈¥0.02/份·分钟级生成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C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5212080"/>
            <a:ext cx="2615184" cy="914400"/>
          </a:xfrm>
          <a:prstGeom prst="roundRect">
            <a:avLst>
              <a:gd name="adj" fmla="val 10000"/>
            </a:avLst>
          </a:prstGeom>
          <a:solidFill>
            <a:srgbClr val="17243F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" y="521208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真实多智能体协同（非串行模拟）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438144" y="5212080"/>
            <a:ext cx="2615184" cy="914400"/>
          </a:xfrm>
          <a:prstGeom prst="roundRect">
            <a:avLst>
              <a:gd name="adj" fmla="val 10000"/>
            </a:avLst>
          </a:prstGeom>
          <a:solidFill>
            <a:srgbClr val="17243F"/>
          </a:solidFill>
          <a:ln/>
        </p:spPr>
      </p:sp>
      <p:sp>
        <p:nvSpPr>
          <p:cNvPr id="12" name="Text 9"/>
          <p:cNvSpPr/>
          <p:nvPr/>
        </p:nvSpPr>
        <p:spPr>
          <a:xfrm>
            <a:off x="3584448" y="521208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防幻觉 + 内容安全双保险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36208" y="5212080"/>
            <a:ext cx="2615184" cy="914400"/>
          </a:xfrm>
          <a:prstGeom prst="roundRect">
            <a:avLst>
              <a:gd name="adj" fmla="val 10000"/>
            </a:avLst>
          </a:prstGeom>
          <a:solidFill>
            <a:srgbClr val="17243F"/>
          </a:solidFill>
          <a:ln/>
        </p:spPr>
      </p:sp>
      <p:sp>
        <p:nvSpPr>
          <p:cNvPr id="14" name="Text 11"/>
          <p:cNvSpPr/>
          <p:nvPr/>
        </p:nvSpPr>
        <p:spPr>
          <a:xfrm>
            <a:off x="6382512" y="521208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学—记—讲—测科学闭环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9034272" y="5212080"/>
            <a:ext cx="2615184" cy="914400"/>
          </a:xfrm>
          <a:prstGeom prst="roundRect">
            <a:avLst>
              <a:gd name="adj" fmla="val 10000"/>
            </a:avLst>
          </a:prstGeom>
          <a:solidFill>
            <a:srgbClr val="17243F"/>
          </a:solidFill>
          <a:ln/>
        </p:spPr>
      </p:sp>
      <p:sp>
        <p:nvSpPr>
          <p:cNvPr id="16" name="Text 13"/>
          <p:cNvSpPr/>
          <p:nvPr/>
        </p:nvSpPr>
        <p:spPr>
          <a:xfrm>
            <a:off x="9180576" y="521208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对话式动态画像（低置信透明）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· 领域知识个性化资源生成与多智能体系统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595360" y="64739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软件杯 2026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774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· 真实指标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量化指标：全部达标、可复现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325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46624F"/>
            </a:solidFill>
            <a:prstDash val="solid"/>
          </a:ln>
          <a:effectLst>
            <a:outerShdw sx="100000" sy="100000" kx="0" ky="0" algn="bl" rotWithShape="0" blurRad="88900" dist="25400" dir="5400000">
              <a:srgbClr val="C9BEA6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55448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0.0428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40080" y="24505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幻觉率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81635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&lt;0.05 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141732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2E4A78"/>
            </a:solidFill>
            <a:prstDash val="solid"/>
          </a:ln>
          <a:effectLst>
            <a:outerShdw sx="100000" sy="100000" kx="0" ky="0" algn="bl" rotWithShape="0" blurRad="88900" dist="25400" dir="5400000">
              <a:srgbClr val="C9BEA6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43400" y="155448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343400" y="24505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难度适配率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43400" y="281635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≥85% 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141732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C2873F"/>
            </a:solidFill>
            <a:prstDash val="solid"/>
          </a:ln>
          <a:effectLst>
            <a:outerShdw sx="100000" sy="100000" kx="0" ky="0" algn="bl" rotWithShape="0" blurRad="88900" dist="25400" dir="5400000">
              <a:srgbClr val="C9BEA6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46720" y="155448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28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8046720" y="24505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知识覆盖率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46720" y="281635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≥90% 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3832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跨领域验证（同一管线换计算机网络域）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703320"/>
          <a:ext cx="5486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97280"/>
                <a:gridCol w="109728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领域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幻觉率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适配率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AI（30 文档）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0.0428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计算机网络（5 文档）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0.0700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40080" y="4800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换领域端到端跑通、覆盖率满分，证明方法论与领域无关。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400800" y="338328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性能与成本（327 条真实轨迹）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400800" y="3703320"/>
            <a:ext cx="25603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10528" y="374904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13.2 s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510528" y="413308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P50 生成耗时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9098280" y="3703320"/>
            <a:ext cx="25603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208008" y="374904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37.0 s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9208008" y="413308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P90 生成耗时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400800" y="4526280"/>
            <a:ext cx="25603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10528" y="457200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¥0.02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6510528" y="49560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单份讲义成本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9098280" y="4526280"/>
            <a:ext cx="25603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208008" y="457200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 文档/153 切片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9208008" y="49560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知识库规模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400800" y="53949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一轮 18 份讲义 ≈ ¥0.36，低成本可规模化。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· 领域知识个性化资源生成与多智能体系统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8595360" y="64739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软件杯 2026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774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&amp; SECURITY · 规范开发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测试与安全性保障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325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5349240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71600"/>
            <a:ext cx="5349240" cy="45720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371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软件测试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41248" y="1975104"/>
            <a:ext cx="49834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pytest：18 个测试文件 / 195 条用例，全量通过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TypeScript 编译 tsc 0 报错，0 回归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关键链路（工作流/评估/防幻觉）覆盖单元 + 集成测试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5349240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371600"/>
            <a:ext cx="5349240" cy="457200"/>
          </a:xfrm>
          <a:prstGeom prst="rect">
            <a:avLst/>
          </a:prstGeom>
          <a:solidFill>
            <a:srgbClr val="2E4A78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371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性能与压测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510528" y="1975104"/>
            <a:ext cx="49834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端到端生成 P50 13.2s / P90 37.0s（327 条真实轨迹）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单份讲义成本 ≈ ¥0.02，低成本可规模化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异步任务 + 状态机轮询，耗时操作不阻塞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803904"/>
            <a:ext cx="5349240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803904"/>
            <a:ext cx="5349240" cy="457200"/>
          </a:xfrm>
          <a:prstGeom prst="rect">
            <a:avLst/>
          </a:prstGeom>
          <a:solidFill>
            <a:srgbClr val="C2873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80390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鲁棒性验证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41248" y="4407408"/>
            <a:ext cx="49834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消融实验：去 RAG 幻觉率 0.059→0.155，验证组件有效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跨领域验证：换计算机网络域端到端跑通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Mock-first 隔离：断网/无 Key 全链路可复现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3803904"/>
            <a:ext cx="5349240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3803904"/>
            <a:ext cx="5349240" cy="457200"/>
          </a:xfrm>
          <a:prstGeom prst="rect">
            <a:avLst/>
          </a:prstGeom>
          <a:solidFill>
            <a:srgbClr val="46624F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380390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数据与内容安全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510528" y="4407408"/>
            <a:ext cx="49834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 鉴权 + admin/learner 角色守卫（越权 403）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日志手机号/邮箱经脱敏拦截器掩码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生成内容统一敏感/违规过滤，不误伤学术术语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· 领域知识个性化资源生成与多智能体系统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595360" y="64739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软件杯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774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· 商业价值与前景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应用落地与未来规划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325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落地场景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26517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783080"/>
            <a:ext cx="73152" cy="78638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187452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高校课程辅学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04672" y="2185416"/>
            <a:ext cx="2395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按学情个性化补差培优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29000" y="1783080"/>
            <a:ext cx="26517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1783080"/>
            <a:ext cx="73152" cy="78638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15" name="Text 13"/>
          <p:cNvSpPr/>
          <p:nvPr/>
        </p:nvSpPr>
        <p:spPr>
          <a:xfrm>
            <a:off x="3593592" y="187452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职业技能/转岗培训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93592" y="2185416"/>
            <a:ext cx="2395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岗位对标 + 缺口补齐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2697480"/>
            <a:ext cx="26517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2697480"/>
            <a:ext cx="73152" cy="78638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278892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考证备考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4672" y="3099816"/>
            <a:ext cx="2395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分阶讲义 + 阶段测试通关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29000" y="2697480"/>
            <a:ext cx="26517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29000" y="2697480"/>
            <a:ext cx="73152" cy="78638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23" name="Text 21"/>
          <p:cNvSpPr/>
          <p:nvPr/>
        </p:nvSpPr>
        <p:spPr>
          <a:xfrm>
            <a:off x="3593592" y="278892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企业内训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593592" y="3099816"/>
            <a:ext cx="2395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领域知识库低成本定制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55080" y="1737360"/>
            <a:ext cx="5349240" cy="1883664"/>
          </a:xfrm>
          <a:prstGeom prst="roundRect">
            <a:avLst>
              <a:gd name="adj" fmla="val 4854"/>
            </a:avLst>
          </a:prstGeom>
          <a:solidFill>
            <a:srgbClr val="17243F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1865376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E0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目标受众与核心价值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37960" y="2249424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受众：在校学生 / 转岗求职者 / 终身学习者 / 培训机构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价值：把优质个性化教学的边际成本降到 ≈¥0.02/份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规模化"因材施教"，破解优质师资稀缺与千人一面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3840480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未来迭代规划 · 揭榜挂帅方向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40080" y="4251960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22960" y="439826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87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22960" y="4818888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资源生态聚合：联网优质资源 + AI 评分排序规模化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343400" y="4251960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26280" y="439826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87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526280" y="4818888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岗位能力图谱：对接真实招聘需求，学习直通就业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046720" y="4251960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229600" y="439826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87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远期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229600" y="4818888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多学科领域扩展 + 生产级架构（Milvus/PG/Redis）平滑升级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· 领域知识个性化资源生成与多智能体系统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595360" y="64739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软件杯 2026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194560"/>
            <a:ext cx="146304" cy="91440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221284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 &amp; Q / 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25786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 · 敬请指正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68680" y="3611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2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感谢各位评委老师的耐心评审，感谢团队的协作付出。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4297680"/>
            <a:ext cx="10424160" cy="841248"/>
          </a:xfrm>
          <a:prstGeom prst="roundRect">
            <a:avLst>
              <a:gd name="adj" fmla="val 10870"/>
            </a:avLst>
          </a:prstGeom>
          <a:solidFill>
            <a:srgbClr val="1F3050"/>
          </a:solidFill>
          <a:ln w="12700">
            <a:solidFill>
              <a:srgbClr val="5B7F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297680"/>
            <a:ext cx="10424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—— 让 AI 因材施教，让每一份学习内容都可信。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53492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7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欢迎就技术架构、多智能体协同、防幻觉机制等提问交流 ✦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智学中枢 · 软件杯参赛汇报</dc:title>
  <dc:subject>PptxGenJS Presentation</dc:subject>
  <dc:creator>智学中枢团队</dc:creator>
  <cp:lastModifiedBy>智学中枢团队</cp:lastModifiedBy>
  <cp:revision>1</cp:revision>
  <dcterms:created xsi:type="dcterms:W3CDTF">2026-06-29T11:05:50Z</dcterms:created>
  <dcterms:modified xsi:type="dcterms:W3CDTF">2026-06-29T11:05:50Z</dcterms:modified>
</cp:coreProperties>
</file>