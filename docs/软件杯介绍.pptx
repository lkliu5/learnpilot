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46624F"/>
                </a:solidFill>
                <a:latin typeface="Arial"/>
              </a:defRPr>
            </a:pPr>
            <a:r>
              <a:rPr sz="1100" b="0" i="0" u="none" strike="noStrike">
                <a:solidFill>
                  <a:srgbClr val="46624F"/>
                </a:solidFill>
                <a:latin typeface="Arial"/>
              </a:rPr>
              <a:t>消融实验：去掉 RAG，幻觉率飙升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幻觉率</c:v>
                </c:pt>
              </c:strCache>
            </c:strRef>
          </c:tx>
          <c:spPr>
            <a:solidFill>
              <a:srgbClr val="5B7F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262A2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B7F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0612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5B7F6E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5B7F6E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完整链路</c:v>
                  </c:pt>
                  <c:pt idx="1">
                    <c:v>−RAG</c:v>
                  </c:pt>
                  <c:pt idx="2">
                    <c:v>−审核</c:v>
                  </c:pt>
                  <c:pt idx="3">
                    <c:v>−重试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5.89</c:v>
                </c:pt>
                <c:pt idx="1">
                  <c:v>15.49</c:v>
                </c:pt>
                <c:pt idx="2">
                  <c:v>4.9</c:v>
                </c:pt>
                <c:pt idx="3">
                  <c:v>6.82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262A2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C524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开场定位。智学中枢是一个多智能体驱动的个性化学习平台。一句话讲清楚我们解决两件事：让 AI 真正因材施教，并且生成的每一句都可溯源、可信。四个关键词就是全片的主线——对话式画像、真实多智能体协同、防幻觉&lt;5%、学习方法闭环。封面底部留了队伍信息位，录制前替换。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讲价值（应用价值占 35%）。传统在线学习两大痛点：资源千人一面，无法适配个人；AI 直接生成又常幻觉、不可信。我们的价值主张正好对症——因材施教解决"千人一面"，可信生成解决"AI 幻觉"。这一页是整个作品的价值锚点。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讲架构。强调全栈自建，五层结构。重点指向中间高亮的多智能体编排层：我们用的多智能体框架是 LangGraph，五节点带真实回环。RAG 引擎用 Chroma + bge 本地嵌入，30 文档 153 切片做接地证据。底层 LLMClient 适配层支持 mock/deepseek，无 Key 也能跑通全链路。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功能一：对话式画像。我们摒弃填表，改用几轮自然对话构建六个异质维度。特别指出"易错点"这类推断维度标了"低置信"——这是我们防幻觉理念的体现：不确定的，绝不编造。画像随学随新。演示时这里走真实对话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重头戏：真实多智能体协同。这是真的 LangGraph 五节点，不是动画。生成 Agent 产讲义，审核 Agent 基于 RAG 逐句接地校验幻觉率，超阈值就打回重生成——你看到的回环就是真实重试（实测 18 份里触发 2 次、降级 1 次）。最终幻觉率压到 4.28%，每句可溯源到 sources。演示时故意制造一次审核不通过展示回环。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核心功能三：个性化学习路径。同一批知识点，画像 A 基础薄弱就从头夯实，画像 B 有基础则已掌握的自动后置、薄弱优先。规划依据真实画像加掌握度打分排序，每步精准推送资源。一句话收尾：不同的人，不同的路径。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个加分功能合并讲。智能辅导：学习者说"我没懂"，系统自动定位卡点、给资源清单、勾选即按需生成。学习评估：基于真实做题行为做多维过程评估，输出学情概览和动态调整建议。两个面板演示时各露一眼真实界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创新亮点，四点说清差异化。一是真实多智能体协同（非串行模拟的伪多智能体）；二是防幻觉+内容安全双保险，两道关正交互补；三是费曼+康奈尔学习方法闭环；四是对话式画像。这页是评委记忆点，讲得干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学习方法闭环。我们把科学学习法做进产品：学（精读）—记（康奈尔三栏）—讲（费曼向 AI 讲、暴露缺口）—测（阶段测试通关才点亮已掌握）。未通关就回到薄弱点循环巩固。这是真正落地"因材施教"的闭环设计。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技术与指标（功能实现占 45%）。三个大字数字是真实测得：幻觉率 4.28%、难度适配率 100%、知识覆盖率 100%，全部达标。右侧消融实验是最有说服力的证据——去掉 RAG 后幻觉率从 5.89% 飙到 15.49%，证明 RAG 接地是抑制幻觉的主导机制。性能 P50 13.2 秒、单份成本约两分钱，都来自 327 条真实轨迹。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工程与合规（文档占 10%）。四个象限：开源依赖与协议逐项标注，许可均合规；AI 辅助开发用 Claude Code 编程、DeepSeek 推理；内容安全是集中式单点覆盖全部 13 个生成器、四类违规拦截且学术不误伤；测试 179 passed、0 回归，Mock-first 无 Key 可跑。守得住底线。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收尾。成果回顾对应前面讲过的能力，幻觉率 4.28% 是硬指标。展望承接赛题揭榜挂帅方向：资源聚合（联网搜索+AI评分）和岗位聚合（匹配度+能力缺口），以及知识库扩容让跨域指标看齐。最后一句口号收束全场：让 AI 因材施教，让每一份学习内容都可信。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0350" y="558701"/>
            <a:ext cx="797976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6FB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多智能体 · 个性化学习 · 可信生成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60350" y="885676"/>
            <a:ext cx="7979765" cy="1038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0"/>
              </a:spcBef>
              <a:spcAft>
                <a:spcPts val="600"/>
              </a:spcAft>
              <a:buNone/>
            </a:pPr>
            <a:r>
              <a:rPr lang="en-US" sz="6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智学中枢</a:t>
            </a:r>
            <a:endParaRPr lang="en-US" sz="6200" dirty="0"/>
          </a:p>
        </p:txBody>
      </p:sp>
      <p:sp>
        <p:nvSpPr>
          <p:cNvPr id="4" name="Text 2"/>
          <p:cNvSpPr/>
          <p:nvPr/>
        </p:nvSpPr>
        <p:spPr>
          <a:xfrm>
            <a:off x="660350" y="2000101"/>
            <a:ext cx="7979765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CBE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多智能体驱动的个性化学习平台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60350" y="2530227"/>
            <a:ext cx="1143000" cy="38100"/>
          </a:xfrm>
          <a:prstGeom prst="rect">
            <a:avLst/>
          </a:prstGeom>
          <a:solidFill>
            <a:srgbClr val="E0A45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60350" y="2720727"/>
            <a:ext cx="79797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9AA7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 AI 真正因材施教 —— 让每一份学习内容都可溯源、可信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60350" y="3416350"/>
            <a:ext cx="1155502" cy="387251"/>
          </a:xfrm>
          <a:prstGeom prst="roundRect">
            <a:avLst>
              <a:gd name="adj" fmla="val 65591"/>
            </a:avLst>
          </a:prstGeom>
          <a:solidFill>
            <a:srgbClr val="1F2730"/>
          </a:solidFill>
          <a:ln w="9525">
            <a:solidFill>
              <a:srgbClr val="3341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73026" y="3514725"/>
            <a:ext cx="7447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BE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对话式画像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968252" y="3416350"/>
            <a:ext cx="1593503" cy="387251"/>
          </a:xfrm>
          <a:prstGeom prst="roundRect">
            <a:avLst>
              <a:gd name="adj" fmla="val 65591"/>
            </a:avLst>
          </a:prstGeom>
          <a:solidFill>
            <a:srgbClr val="1F2730"/>
          </a:solidFill>
          <a:ln w="9525">
            <a:solidFill>
              <a:srgbClr val="3341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180927" y="3514725"/>
            <a:ext cx="119151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BE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真实多智能体协同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714155" y="3416350"/>
            <a:ext cx="1240929" cy="387251"/>
          </a:xfrm>
          <a:prstGeom prst="roundRect">
            <a:avLst>
              <a:gd name="adj" fmla="val 65591"/>
            </a:avLst>
          </a:prstGeom>
          <a:solidFill>
            <a:srgbClr val="1F2730"/>
          </a:solidFill>
          <a:ln w="9525">
            <a:solidFill>
              <a:srgbClr val="3341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926830" y="3514725"/>
            <a:ext cx="8318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BE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防幻觉 &lt; 5%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107484" y="3416350"/>
            <a:ext cx="1301502" cy="387251"/>
          </a:xfrm>
          <a:prstGeom prst="roundRect">
            <a:avLst>
              <a:gd name="adj" fmla="val 65591"/>
            </a:avLst>
          </a:prstGeom>
          <a:solidFill>
            <a:srgbClr val="1F2730"/>
          </a:solidFill>
          <a:ln w="9525">
            <a:solidFill>
              <a:srgbClr val="33414C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320159" y="3514725"/>
            <a:ext cx="89367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CBE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学习方法闭环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60350" y="4260949"/>
            <a:ext cx="40525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E8C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〔队伍名称 · 成员信息〕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0350" y="4422874"/>
            <a:ext cx="405257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E8C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+ FastAPI + LangGraph + Chroma + RAG · 推理模型 DeepSeek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227987" y="4422874"/>
            <a:ext cx="12807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7E8C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中国软件杯 · 参赛作品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30101"/>
            <a:ext cx="84461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58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痛点 与 应用价值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31750" y="584002"/>
            <a:ext cx="8446109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26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千人一面 + AI 幻觉，两大痛点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31750" y="1098352"/>
            <a:ext cx="685800" cy="38100"/>
          </a:xfrm>
          <a:prstGeom prst="rect">
            <a:avLst/>
          </a:prstGeom>
          <a:solidFill>
            <a:srgbClr val="5B7F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1750" y="1314152"/>
            <a:ext cx="384733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A64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传统在线学习的两大痛点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31750" y="1647527"/>
            <a:ext cx="3771900" cy="1384548"/>
          </a:xfrm>
          <a:prstGeom prst="roundRect">
            <a:avLst>
              <a:gd name="adj" fmla="val 8255"/>
            </a:avLst>
          </a:prstGeom>
          <a:solidFill>
            <a:srgbClr val="FAF0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31750" y="1652290"/>
            <a:ext cx="3771900" cy="0"/>
          </a:xfrm>
          <a:prstGeom prst="line">
            <a:avLst/>
          </a:prstGeom>
          <a:noFill/>
          <a:ln w="9525">
            <a:solidFill>
              <a:srgbClr val="ECD3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98888" y="1647527"/>
            <a:ext cx="0" cy="1384548"/>
          </a:xfrm>
          <a:prstGeom prst="line">
            <a:avLst/>
          </a:prstGeom>
          <a:noFill/>
          <a:ln w="9525">
            <a:solidFill>
              <a:srgbClr val="ECD3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1750" y="3027313"/>
            <a:ext cx="3771900" cy="0"/>
          </a:xfrm>
          <a:prstGeom prst="line">
            <a:avLst/>
          </a:prstGeom>
          <a:noFill/>
          <a:ln w="9525">
            <a:solidFill>
              <a:srgbClr val="ECD3C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0325" y="1647527"/>
            <a:ext cx="0" cy="1384548"/>
          </a:xfrm>
          <a:prstGeom prst="line">
            <a:avLst/>
          </a:prstGeom>
          <a:noFill/>
          <a:ln w="57150">
            <a:solidFill>
              <a:srgbClr val="C0612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9400" y="1992809"/>
            <a:ext cx="339071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6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资源千人一面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9400" y="2281684"/>
            <a:ext cx="3390710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4C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统一进度、统一内容，无法适配每个人的基础、节奏与薄弱点。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31750" y="3171676"/>
            <a:ext cx="3771900" cy="1384697"/>
          </a:xfrm>
          <a:prstGeom prst="roundRect">
            <a:avLst>
              <a:gd name="adj" fmla="val 8255"/>
            </a:avLst>
          </a:prstGeom>
          <a:solidFill>
            <a:srgbClr val="FAF0EC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31750" y="3176439"/>
            <a:ext cx="3771900" cy="0"/>
          </a:xfrm>
          <a:prstGeom prst="line">
            <a:avLst/>
          </a:prstGeom>
          <a:noFill/>
          <a:ln w="9525">
            <a:solidFill>
              <a:srgbClr val="ECD3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98888" y="3171676"/>
            <a:ext cx="0" cy="1384697"/>
          </a:xfrm>
          <a:prstGeom prst="line">
            <a:avLst/>
          </a:prstGeom>
          <a:noFill/>
          <a:ln w="9525">
            <a:solidFill>
              <a:srgbClr val="ECD3C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1750" y="4551611"/>
            <a:ext cx="3771900" cy="0"/>
          </a:xfrm>
          <a:prstGeom prst="line">
            <a:avLst/>
          </a:prstGeom>
          <a:noFill/>
          <a:ln w="9525">
            <a:solidFill>
              <a:srgbClr val="ECD3C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0325" y="3171676"/>
            <a:ext cx="0" cy="1384697"/>
          </a:xfrm>
          <a:prstGeom prst="line">
            <a:avLst/>
          </a:prstGeom>
          <a:noFill/>
          <a:ln w="57150">
            <a:solidFill>
              <a:srgbClr val="C061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9400" y="3516957"/>
            <a:ext cx="339071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6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生成不可信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9400" y="3805833"/>
            <a:ext cx="3390710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4C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大模型直接生成易"一本正经地胡说"，内容无法溯源、难以采信。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355902" y="2757339"/>
            <a:ext cx="440537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C58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4940201" y="1314152"/>
            <a:ext cx="384749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智学中枢的价值主张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40201" y="1647527"/>
            <a:ext cx="3772049" cy="1384548"/>
          </a:xfrm>
          <a:prstGeom prst="roundRect">
            <a:avLst>
              <a:gd name="adj" fmla="val 8255"/>
            </a:avLst>
          </a:prstGeom>
          <a:solidFill>
            <a:srgbClr val="FAF9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4940201" y="1652290"/>
            <a:ext cx="3772049" cy="0"/>
          </a:xfrm>
          <a:prstGeom prst="line">
            <a:avLst/>
          </a:prstGeom>
          <a:noFill/>
          <a:ln w="9525">
            <a:solidFill>
              <a:srgbClr val="D7E0D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707487" y="1647527"/>
            <a:ext cx="0" cy="1384548"/>
          </a:xfrm>
          <a:prstGeom prst="line">
            <a:avLst/>
          </a:prstGeom>
          <a:noFill/>
          <a:ln w="9525">
            <a:solidFill>
              <a:srgbClr val="D7E0D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940201" y="3027313"/>
            <a:ext cx="3772049" cy="0"/>
          </a:xfrm>
          <a:prstGeom prst="line">
            <a:avLst/>
          </a:prstGeom>
          <a:noFill/>
          <a:ln w="9525">
            <a:solidFill>
              <a:srgbClr val="D7E0D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68776" y="1647527"/>
            <a:ext cx="0" cy="1384548"/>
          </a:xfrm>
          <a:prstGeom prst="line">
            <a:avLst/>
          </a:prstGeom>
          <a:noFill/>
          <a:ln w="57150">
            <a:solidFill>
              <a:srgbClr val="5B7F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187851" y="1992809"/>
            <a:ext cx="33908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6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因材施教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187851" y="2281684"/>
            <a:ext cx="3390861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4C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对话式画像 + 多智能体规划，按真实掌握度生成个性化资源与路径。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40201" y="3171676"/>
            <a:ext cx="3772049" cy="1384697"/>
          </a:xfrm>
          <a:prstGeom prst="roundRect">
            <a:avLst>
              <a:gd name="adj" fmla="val 8255"/>
            </a:avLst>
          </a:prstGeom>
          <a:solidFill>
            <a:srgbClr val="FAF9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940201" y="3176439"/>
            <a:ext cx="3772049" cy="0"/>
          </a:xfrm>
          <a:prstGeom prst="line">
            <a:avLst/>
          </a:prstGeom>
          <a:noFill/>
          <a:ln w="9525">
            <a:solidFill>
              <a:srgbClr val="D7E0D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707487" y="3171676"/>
            <a:ext cx="0" cy="1384697"/>
          </a:xfrm>
          <a:prstGeom prst="line">
            <a:avLst/>
          </a:prstGeom>
          <a:noFill/>
          <a:ln w="9525">
            <a:solidFill>
              <a:srgbClr val="D7E0D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940201" y="4551611"/>
            <a:ext cx="3772049" cy="0"/>
          </a:xfrm>
          <a:prstGeom prst="line">
            <a:avLst/>
          </a:prstGeom>
          <a:noFill/>
          <a:ln w="9525">
            <a:solidFill>
              <a:srgbClr val="D7E0D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968776" y="3171676"/>
            <a:ext cx="0" cy="1384697"/>
          </a:xfrm>
          <a:prstGeom prst="line">
            <a:avLst/>
          </a:prstGeom>
          <a:noFill/>
          <a:ln w="57150">
            <a:solidFill>
              <a:srgbClr val="5B7F6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187851" y="3516957"/>
            <a:ext cx="339086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26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可信生成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187851" y="3805833"/>
            <a:ext cx="3390861" cy="4051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4C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逐句接地校验 + 内容安全过滤，幻觉率压至 5% 以下、句句可溯源。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31750" y="4797475"/>
            <a:ext cx="17490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AA0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智学中枢 · 多智能体个性化学习平台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8382149" y="4797475"/>
            <a:ext cx="3367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AA0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04800"/>
            <a:ext cx="84461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58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 体 架 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31750" y="546050"/>
            <a:ext cx="844610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500"/>
              </a:spcAft>
              <a:buNone/>
            </a:pPr>
            <a:r>
              <a:rPr lang="en-US" sz="2500" b="1" dirty="0">
                <a:solidFill>
                  <a:srgbClr val="26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全栈自建 · 多智能体框架 LangGraph 居核心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1750" y="1028551"/>
            <a:ext cx="685800" cy="34082"/>
          </a:xfrm>
          <a:prstGeom prst="rect">
            <a:avLst/>
          </a:prstGeom>
          <a:solidFill>
            <a:srgbClr val="5B7F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1750" y="1202234"/>
            <a:ext cx="8280499" cy="607368"/>
          </a:xfrm>
          <a:prstGeom prst="roundRect">
            <a:avLst>
              <a:gd name="adj" fmla="val 16728"/>
            </a:avLst>
          </a:prstGeom>
          <a:solidFill>
            <a:srgbClr val="FAF9F4"/>
          </a:solidFill>
          <a:ln w="9525">
            <a:solidFill>
              <a:srgbClr val="DEDC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41275" y="1211759"/>
            <a:ext cx="1625501" cy="588318"/>
          </a:xfrm>
          <a:prstGeom prst="rect">
            <a:avLst/>
          </a:prstGeom>
          <a:solidFill>
            <a:srgbClr val="EBEA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93675" y="1307604"/>
            <a:ext cx="134711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6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前端展现层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93675" y="1551980"/>
            <a:ext cx="13471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8A8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:3001 / api 代理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44477" y="1410593"/>
            <a:ext cx="64061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C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TypeScript + Vite · Zustand 状态 · Framer Motion / GSAP · ECharts 可视化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1750" y="1911102"/>
            <a:ext cx="8280499" cy="607516"/>
          </a:xfrm>
          <a:prstGeom prst="roundRect">
            <a:avLst>
              <a:gd name="adj" fmla="val 16724"/>
            </a:avLst>
          </a:prstGeom>
          <a:solidFill>
            <a:srgbClr val="FAF9F4"/>
          </a:solidFill>
          <a:ln w="9525">
            <a:solidFill>
              <a:srgbClr val="DEDC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41275" y="1920627"/>
            <a:ext cx="1625501" cy="588466"/>
          </a:xfrm>
          <a:prstGeom prst="rect">
            <a:avLst/>
          </a:prstGeom>
          <a:solidFill>
            <a:srgbClr val="EBEA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93675" y="2025997"/>
            <a:ext cx="134711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6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后端服务层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593675" y="2270373"/>
            <a:ext cx="13471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8A8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44477" y="2119610"/>
            <a:ext cx="64061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C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统一响应信封 {code, message, data, traceId} · 异步任务 taskId 状态机 · WS / SSE 实时推送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1750" y="2620119"/>
            <a:ext cx="8280499" cy="607368"/>
          </a:xfrm>
          <a:prstGeom prst="roundRect">
            <a:avLst>
              <a:gd name="adj" fmla="val 16728"/>
            </a:avLst>
          </a:prstGeom>
          <a:solidFill>
            <a:srgbClr val="5B7F6E"/>
          </a:solidFill>
          <a:ln w="9525">
            <a:solidFill>
              <a:srgbClr val="46624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41275" y="2629644"/>
            <a:ext cx="1625501" cy="588318"/>
          </a:xfrm>
          <a:prstGeom prst="rect">
            <a:avLst/>
          </a:prstGeom>
          <a:solidFill>
            <a:srgbClr val="4662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93675" y="2725489"/>
            <a:ext cx="134711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多智能体编排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93675" y="2969865"/>
            <a:ext cx="13471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CBE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★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244477" y="2752279"/>
            <a:ext cx="533251" cy="342900"/>
          </a:xfrm>
          <a:prstGeom prst="roundRect">
            <a:avLst>
              <a:gd name="adj" fmla="val 22222"/>
            </a:avLst>
          </a:prstGeom>
          <a:solidFill>
            <a:srgbClr val="FAF9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371427" y="2828479"/>
            <a:ext cx="28493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诊断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145929" y="2752279"/>
            <a:ext cx="533251" cy="342900"/>
          </a:xfrm>
          <a:prstGeom prst="roundRect">
            <a:avLst>
              <a:gd name="adj" fmla="val 22222"/>
            </a:avLst>
          </a:prstGeom>
          <a:solidFill>
            <a:srgbClr val="FAF9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272879" y="2828479"/>
            <a:ext cx="28493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检索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047381" y="2752279"/>
            <a:ext cx="533251" cy="342900"/>
          </a:xfrm>
          <a:prstGeom prst="roundRect">
            <a:avLst>
              <a:gd name="adj" fmla="val 22222"/>
            </a:avLst>
          </a:prstGeom>
          <a:solidFill>
            <a:srgbClr val="FAF9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174331" y="2828479"/>
            <a:ext cx="28493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48833" y="2752279"/>
            <a:ext cx="533251" cy="342900"/>
          </a:xfrm>
          <a:prstGeom prst="roundRect">
            <a:avLst>
              <a:gd name="adj" fmla="val 22222"/>
            </a:avLst>
          </a:prstGeom>
          <a:solidFill>
            <a:srgbClr val="FAF9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075783" y="2828479"/>
            <a:ext cx="28493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审核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850285" y="2752279"/>
            <a:ext cx="533251" cy="342900"/>
          </a:xfrm>
          <a:prstGeom prst="roundRect">
            <a:avLst>
              <a:gd name="adj" fmla="val 22222"/>
            </a:avLst>
          </a:prstGeom>
          <a:solidFill>
            <a:srgbClr val="FAF9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977235" y="2828479"/>
            <a:ext cx="284937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31750" y="3328988"/>
            <a:ext cx="8280499" cy="607368"/>
          </a:xfrm>
          <a:prstGeom prst="roundRect">
            <a:avLst>
              <a:gd name="adj" fmla="val 16728"/>
            </a:avLst>
          </a:prstGeom>
          <a:solidFill>
            <a:srgbClr val="FAF9F4"/>
          </a:solidFill>
          <a:ln w="9525">
            <a:solidFill>
              <a:srgbClr val="DEDC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41275" y="3338513"/>
            <a:ext cx="1625501" cy="588318"/>
          </a:xfrm>
          <a:prstGeom prst="rect">
            <a:avLst/>
          </a:prstGeom>
          <a:solidFill>
            <a:srgbClr val="EBEA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93675" y="3443734"/>
            <a:ext cx="134711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6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知识引擎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93675" y="3688110"/>
            <a:ext cx="13471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8A8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 + bge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244477" y="3537347"/>
            <a:ext cx="64061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C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Chroma 嵌入式向量库 · bge 本地嵌入模型 · 30 文档 / 153 切片 · 逐句接地校验幻觉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31750" y="4037856"/>
            <a:ext cx="8280499" cy="607368"/>
          </a:xfrm>
          <a:prstGeom prst="roundRect">
            <a:avLst>
              <a:gd name="adj" fmla="val 16728"/>
            </a:avLst>
          </a:prstGeom>
          <a:solidFill>
            <a:srgbClr val="FAF9F4"/>
          </a:solidFill>
          <a:ln w="9525">
            <a:solidFill>
              <a:srgbClr val="DEDC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41275" y="4047381"/>
            <a:ext cx="1625501" cy="588318"/>
          </a:xfrm>
          <a:prstGeom prst="rect">
            <a:avLst/>
          </a:prstGeom>
          <a:solidFill>
            <a:srgbClr val="EBEA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93675" y="4152602"/>
            <a:ext cx="134711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6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数据与模型</a:t>
            </a:r>
            <a:endParaRPr lang="en-US" sz="1250" dirty="0"/>
          </a:p>
        </p:txBody>
      </p:sp>
      <p:sp>
        <p:nvSpPr>
          <p:cNvPr id="37" name="Text 35"/>
          <p:cNvSpPr/>
          <p:nvPr/>
        </p:nvSpPr>
        <p:spPr>
          <a:xfrm>
            <a:off x="593675" y="4396978"/>
            <a:ext cx="134711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8A8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244477" y="4246215"/>
            <a:ext cx="640615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C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+ 内存 TTL 会话 · LLMClient 适配层（mock / deepseek / qwen / anthropic）· 内容安全过滤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31750" y="4822924"/>
            <a:ext cx="17490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AA0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智学中枢 · 多智能体个性化学习平台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382149" y="4822924"/>
            <a:ext cx="3367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AA0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12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04800"/>
            <a:ext cx="84461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58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 1 </a:t>
            </a:r>
            <a:pPr algn="l" indent="0" marL="0">
              <a:buNone/>
            </a:pPr>
            <a:r>
              <a:rPr lang="en-US" sz="1100" b="1" dirty="0">
                <a:solidFill>
                  <a:srgbClr val="5B7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对话式画像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31750" y="546050"/>
            <a:ext cx="844610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500"/>
              </a:spcAft>
              <a:buNone/>
            </a:pPr>
            <a:r>
              <a:rPr lang="en-US" sz="2500" b="1" dirty="0">
                <a:solidFill>
                  <a:srgbClr val="26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摒弃表单，在自然对话中读懂学习者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1750" y="1028551"/>
            <a:ext cx="685800" cy="38100"/>
          </a:xfrm>
          <a:prstGeom prst="rect">
            <a:avLst/>
          </a:prstGeom>
          <a:solidFill>
            <a:srgbClr val="5B7F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1750" y="1219051"/>
            <a:ext cx="3238500" cy="2752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53951" y="1342876"/>
            <a:ext cx="289855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6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摒弃填表式画像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53951" y="1587252"/>
            <a:ext cx="289855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C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系统在几轮自然交流中自动构建画像，无需冷冰冰的问卷。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3951" y="2322463"/>
            <a:ext cx="289855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6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随学随新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3951" y="2566839"/>
            <a:ext cx="2898559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C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画像随学习行为持续更新，越用越懂你。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3951" y="3115419"/>
            <a:ext cx="289855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26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低置信防幻觉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3951" y="3359795"/>
            <a:ext cx="2898559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buNone/>
            </a:pPr>
            <a:r>
              <a:rPr lang="en-US" sz="1050" dirty="0">
                <a:solidFill>
                  <a:srgbClr val="4C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推断维度标注"低置信"——不确定的，绝不编造。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31750" y="3971181"/>
            <a:ext cx="3238500" cy="750243"/>
          </a:xfrm>
          <a:prstGeom prst="roundRect">
            <a:avLst>
              <a:gd name="adj" fmla="val 13542"/>
            </a:avLst>
          </a:prstGeom>
          <a:solidFill>
            <a:srgbClr val="EAE8DD"/>
          </a:solidFill>
          <a:ln w="19050">
            <a:solidFill>
              <a:srgbClr val="B9B6A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999976" y="4265265"/>
            <a:ext cx="214408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8A8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〔此处放 对话式画像诊断界面 截图〕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73401" y="1219051"/>
            <a:ext cx="2346722" cy="692944"/>
          </a:xfrm>
          <a:prstGeom prst="roundRect">
            <a:avLst>
              <a:gd name="adj" fmla="val 16495"/>
            </a:avLst>
          </a:prstGeom>
          <a:solidFill>
            <a:srgbClr val="FAF9F4"/>
          </a:solidFill>
          <a:ln w="9525">
            <a:solidFill>
              <a:srgbClr val="DEDC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035326" y="1355527"/>
            <a:ext cx="206332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知识基础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035326" y="1612702"/>
            <a:ext cx="2063329" cy="162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C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已掌握的概念与先修水平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6220123" y="1219051"/>
            <a:ext cx="2346722" cy="692944"/>
          </a:xfrm>
          <a:prstGeom prst="roundRect">
            <a:avLst>
              <a:gd name="adj" fmla="val 16495"/>
            </a:avLst>
          </a:prstGeom>
          <a:solidFill>
            <a:srgbClr val="FAF9F4"/>
          </a:solidFill>
          <a:ln w="9525">
            <a:solidFill>
              <a:srgbClr val="DEDC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382048" y="1355527"/>
            <a:ext cx="206332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认知风格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82048" y="1612702"/>
            <a:ext cx="2063329" cy="162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C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偏好的理解与学习方式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873401" y="2566690"/>
            <a:ext cx="2346722" cy="692944"/>
          </a:xfrm>
          <a:prstGeom prst="roundRect">
            <a:avLst>
              <a:gd name="adj" fmla="val 16495"/>
            </a:avLst>
          </a:prstGeom>
          <a:solidFill>
            <a:srgbClr val="FAF9F4"/>
          </a:solidFill>
          <a:ln w="9525">
            <a:solidFill>
              <a:srgbClr val="DEDC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5575995" y="2690515"/>
            <a:ext cx="507653" cy="187821"/>
          </a:xfrm>
          <a:prstGeom prst="roundRect">
            <a:avLst>
              <a:gd name="adj" fmla="val 67617"/>
            </a:avLst>
          </a:prstGeom>
          <a:solidFill>
            <a:srgbClr val="F6E2C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677495" y="2715816"/>
            <a:ext cx="310744" cy="137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800" b="1" dirty="0">
                <a:solidFill>
                  <a:srgbClr val="A67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低置信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035326" y="2703165"/>
            <a:ext cx="206332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易错点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035326" y="2960340"/>
            <a:ext cx="2063329" cy="162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C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推断的薄弱与易混淆点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220123" y="2566690"/>
            <a:ext cx="2346722" cy="692944"/>
          </a:xfrm>
          <a:prstGeom prst="roundRect">
            <a:avLst>
              <a:gd name="adj" fmla="val 16495"/>
            </a:avLst>
          </a:prstGeom>
          <a:solidFill>
            <a:srgbClr val="FAF9F4"/>
          </a:solidFill>
          <a:ln w="9525">
            <a:solidFill>
              <a:srgbClr val="DEDC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382048" y="2703165"/>
            <a:ext cx="206332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学习目标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82048" y="2960340"/>
            <a:ext cx="2063329" cy="162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C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想达成的能力与场景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873401" y="3914180"/>
            <a:ext cx="2346722" cy="692944"/>
          </a:xfrm>
          <a:prstGeom prst="roundRect">
            <a:avLst>
              <a:gd name="adj" fmla="val 16495"/>
            </a:avLst>
          </a:prstGeom>
          <a:solidFill>
            <a:srgbClr val="FAF9F4"/>
          </a:solidFill>
          <a:ln w="9525">
            <a:solidFill>
              <a:srgbClr val="DEDC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035326" y="4050655"/>
            <a:ext cx="206332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先验经验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035326" y="4307830"/>
            <a:ext cx="2063329" cy="162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C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相关背景与实践积累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20123" y="3914180"/>
            <a:ext cx="2346722" cy="692944"/>
          </a:xfrm>
          <a:prstGeom prst="roundRect">
            <a:avLst>
              <a:gd name="adj" fmla="val 16495"/>
            </a:avLst>
          </a:prstGeom>
          <a:solidFill>
            <a:srgbClr val="FAF9F4"/>
          </a:solidFill>
          <a:ln w="9525">
            <a:solidFill>
              <a:srgbClr val="DEDC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382048" y="4050655"/>
            <a:ext cx="206332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学习节奏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82048" y="4307830"/>
            <a:ext cx="2063329" cy="1628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83"/>
              </a:lnSpc>
              <a:buNone/>
            </a:pPr>
            <a:r>
              <a:rPr lang="en-US" sz="950" dirty="0">
                <a:solidFill>
                  <a:srgbClr val="4C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可投入的时间与进度偏好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31750" y="4822924"/>
            <a:ext cx="17490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AA0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智学中枢 · 多智能体个性化学习平台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8382149" y="4822924"/>
            <a:ext cx="3367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AA0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12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279350"/>
            <a:ext cx="84461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58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 2 </a:t>
            </a:r>
            <a:pPr algn="l" indent="0" marL="0">
              <a:buNone/>
            </a:pPr>
            <a:r>
              <a:rPr lang="en-US" sz="1100" b="1" dirty="0">
                <a:solidFill>
                  <a:srgbClr val="5B7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多智能体资源生成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31750" y="520601"/>
            <a:ext cx="844610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26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 LangGraph 五节点协同，不是动画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31750" y="971401"/>
            <a:ext cx="685800" cy="38100"/>
          </a:xfrm>
          <a:prstGeom prst="rect">
            <a:avLst/>
          </a:prstGeom>
          <a:solidFill>
            <a:srgbClr val="5B7F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1750" y="1136452"/>
            <a:ext cx="8280499" cy="1158478"/>
          </a:xfrm>
          <a:prstGeom prst="roundRect">
            <a:avLst>
              <a:gd name="adj" fmla="val 10963"/>
            </a:avLst>
          </a:prstGeom>
          <a:solidFill>
            <a:srgbClr val="1A1E2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542455" y="1301502"/>
            <a:ext cx="780604" cy="587127"/>
          </a:xfrm>
          <a:prstGeom prst="roundRect">
            <a:avLst>
              <a:gd name="adj" fmla="val 15142"/>
            </a:avLst>
          </a:prstGeom>
          <a:solidFill>
            <a:srgbClr val="27313B"/>
          </a:solidFill>
          <a:ln w="9525">
            <a:solidFill>
              <a:srgbClr val="3C4A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729680" y="1412528"/>
            <a:ext cx="41427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诊断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729680" y="1644253"/>
            <a:ext cx="41427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9AA7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解析画像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2691259" y="1301502"/>
            <a:ext cx="825847" cy="587127"/>
          </a:xfrm>
          <a:prstGeom prst="roundRect">
            <a:avLst>
              <a:gd name="adj" fmla="val 15142"/>
            </a:avLst>
          </a:prstGeom>
          <a:solidFill>
            <a:srgbClr val="27313B"/>
          </a:solidFill>
          <a:ln w="9525">
            <a:solidFill>
              <a:srgbClr val="3C4A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2878485" y="1412528"/>
            <a:ext cx="46042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检索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878485" y="1644253"/>
            <a:ext cx="4604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9AA7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取证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885307" y="1301502"/>
            <a:ext cx="1074241" cy="587127"/>
          </a:xfrm>
          <a:prstGeom prst="roundRect">
            <a:avLst>
              <a:gd name="adj" fmla="val 15142"/>
            </a:avLst>
          </a:prstGeom>
          <a:solidFill>
            <a:srgbClr val="5B7F6E"/>
          </a:solidFill>
          <a:ln w="9525">
            <a:solidFill>
              <a:srgbClr val="6FB3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072533" y="1412528"/>
            <a:ext cx="71378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072533" y="1644253"/>
            <a:ext cx="71378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9AA7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领域知识 Agent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327749" y="1301502"/>
            <a:ext cx="1040160" cy="587127"/>
          </a:xfrm>
          <a:prstGeom prst="roundRect">
            <a:avLst>
              <a:gd name="adj" fmla="val 15142"/>
            </a:avLst>
          </a:prstGeom>
          <a:solidFill>
            <a:srgbClr val="5B7F6E"/>
          </a:solidFill>
          <a:ln w="9525">
            <a:solidFill>
              <a:srgbClr val="6FB3A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514975" y="1412528"/>
            <a:ext cx="67902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审核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514975" y="1644253"/>
            <a:ext cx="6790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9AA7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逐句接地 Critic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736110" y="1301502"/>
            <a:ext cx="865287" cy="587127"/>
          </a:xfrm>
          <a:prstGeom prst="roundRect">
            <a:avLst>
              <a:gd name="adj" fmla="val 15142"/>
            </a:avLst>
          </a:prstGeom>
          <a:solidFill>
            <a:srgbClr val="27313B"/>
          </a:solidFill>
          <a:ln w="9525">
            <a:solidFill>
              <a:srgbClr val="3C4A5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923336" y="1412528"/>
            <a:ext cx="50065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决策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923336" y="1644253"/>
            <a:ext cx="50065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100"/>
              </a:spcBef>
              <a:buNone/>
            </a:pPr>
            <a:r>
              <a:rPr lang="en-US" sz="800" dirty="0">
                <a:solidFill>
                  <a:srgbClr val="9AA7A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交付 / 降级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548533" y="1977479"/>
            <a:ext cx="41278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E0A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 ↔ 审核：幻觉超阈值 → 真实回环重生成（重试 2/18，兜底降级 1/18）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31750" y="2987725"/>
            <a:ext cx="5410498" cy="1231106"/>
          </a:xfrm>
          <a:prstGeom prst="rect">
            <a:avLst/>
          </a:prstGeom>
          <a:noFill/>
          <a:ln/>
        </p:spPr>
        <p:txBody>
          <a:bodyPr wrap="square" lIns="101600" tIns="0" rIns="0" bIns="0" rtlCol="0" anchor="t"/>
          <a:lstStyle/>
          <a:p>
            <a:pPr algn="l" marL="101600" indent="-101600">
              <a:lnSpc>
                <a:spcPts val="1725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3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审核 Agent 基于 RAG 知识库 </a:t>
            </a:r>
            <a:pPr algn="l" indent="0" marL="0">
              <a:lnSpc>
                <a:spcPts val="1725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逐句接地校验幻觉率</a:t>
            </a:r>
            <a:endParaRPr lang="en-US" sz="1150" dirty="0"/>
          </a:p>
          <a:p>
            <a:pPr algn="l" marL="101600" indent="-101600">
              <a:lnSpc>
                <a:spcPts val="1725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3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超阈值即打回重生成——看到的回环就是真实重试</a:t>
            </a:r>
            <a:endParaRPr lang="en-US" sz="1150" dirty="0"/>
          </a:p>
          <a:p>
            <a:pPr algn="l" marL="101600" indent="-101600">
              <a:lnSpc>
                <a:spcPts val="1725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3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每句话可溯源到具体文档 </a:t>
            </a:r>
            <a:pPr algn="l" indent="0" marL="0">
              <a:lnSpc>
                <a:spcPts val="1725"/>
              </a:lnSpc>
              <a:spcAft>
                <a:spcPts val="700"/>
              </a:spcAft>
              <a:buNone/>
            </a:pPr>
            <a:r>
              <a:rPr lang="en-US" sz="115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</a:t>
            </a:r>
            <a:endParaRPr lang="en-US" sz="1150" dirty="0"/>
          </a:p>
          <a:p>
            <a:pPr algn="l" marL="101600" indent="-101600">
              <a:lnSpc>
                <a:spcPts val="1725"/>
              </a:lnSpc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333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接地阈值 0.6，30 文档 / 153 切片为证据底座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019949" y="2434530"/>
            <a:ext cx="2692301" cy="2337495"/>
          </a:xfrm>
          <a:prstGeom prst="roundRect">
            <a:avLst>
              <a:gd name="adj" fmla="val 4890"/>
            </a:avLst>
          </a:prstGeom>
          <a:solidFill>
            <a:srgbClr val="FAF9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019949" y="2463105"/>
            <a:ext cx="2692301" cy="0"/>
          </a:xfrm>
          <a:prstGeom prst="line">
            <a:avLst/>
          </a:prstGeom>
          <a:noFill/>
          <a:ln w="57150">
            <a:solidFill>
              <a:srgbClr val="C589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07487" y="2434530"/>
            <a:ext cx="0" cy="2337495"/>
          </a:xfrm>
          <a:prstGeom prst="line">
            <a:avLst/>
          </a:prstGeom>
          <a:noFill/>
          <a:ln w="9525">
            <a:solidFill>
              <a:srgbClr val="DEDC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19949" y="4767263"/>
            <a:ext cx="2692301" cy="0"/>
          </a:xfrm>
          <a:prstGeom prst="line">
            <a:avLst/>
          </a:prstGeom>
          <a:noFill/>
          <a:ln w="9525">
            <a:solidFill>
              <a:srgbClr val="DEDC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24711" y="2434530"/>
            <a:ext cx="0" cy="2337495"/>
          </a:xfrm>
          <a:prstGeom prst="line">
            <a:avLst/>
          </a:prstGeom>
          <a:noFill/>
          <a:ln w="9525">
            <a:solidFill>
              <a:srgbClr val="DEDC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32624" y="3107978"/>
            <a:ext cx="2312289" cy="584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46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4.28%</a:t>
            </a:r>
            <a:endParaRPr lang="en-US" sz="4600" dirty="0"/>
          </a:p>
        </p:txBody>
      </p:sp>
      <p:sp>
        <p:nvSpPr>
          <p:cNvPr id="29" name="Text 27"/>
          <p:cNvSpPr/>
          <p:nvPr/>
        </p:nvSpPr>
        <p:spPr>
          <a:xfrm>
            <a:off x="6232624" y="3755529"/>
            <a:ext cx="231228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100" dirty="0">
                <a:solidFill>
                  <a:srgbClr val="4C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逐句接地幻觉率（18 份讲义均值）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32624" y="3984129"/>
            <a:ext cx="231228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buNone/>
            </a:pPr>
            <a:r>
              <a:rPr lang="en-US" sz="1000" b="1" dirty="0">
                <a:solidFill>
                  <a:srgbClr val="5B7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 &lt; 5% ✓ 达标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31750" y="4848225"/>
            <a:ext cx="17490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AA0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智学中枢 · 多智能体个性化学习平台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8382149" y="4848225"/>
            <a:ext cx="3367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AA0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12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04800"/>
            <a:ext cx="84461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58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 3 </a:t>
            </a:r>
            <a:pPr algn="l" indent="0" marL="0">
              <a:buNone/>
            </a:pPr>
            <a:r>
              <a:rPr lang="en-US" sz="1100" b="1" dirty="0">
                <a:solidFill>
                  <a:srgbClr val="5B7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个性化学习路径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31750" y="546050"/>
            <a:ext cx="844610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500"/>
              </a:spcAft>
              <a:buNone/>
            </a:pPr>
            <a:r>
              <a:rPr lang="en-US" sz="2500" b="1" dirty="0">
                <a:solidFill>
                  <a:srgbClr val="26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不同的人，不同的路径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1750" y="1028551"/>
            <a:ext cx="685800" cy="38100"/>
          </a:xfrm>
          <a:prstGeom prst="rect">
            <a:avLst/>
          </a:prstGeom>
          <a:solidFill>
            <a:srgbClr val="5B7F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1750" y="1978372"/>
            <a:ext cx="8280499" cy="695027"/>
          </a:xfrm>
          <a:prstGeom prst="roundRect">
            <a:avLst>
              <a:gd name="adj" fmla="val 16445"/>
            </a:avLst>
          </a:prstGeom>
          <a:solidFill>
            <a:srgbClr val="FAF9F4"/>
          </a:solidFill>
          <a:ln w="9525">
            <a:solidFill>
              <a:srgbClr val="DEDC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2127498"/>
            <a:ext cx="168396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6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画像 A · 基础薄弱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8976" y="2371874"/>
            <a:ext cx="16839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50" dirty="0">
                <a:solidFill>
                  <a:srgbClr val="8A8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从头夯实基础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2269927" y="2159198"/>
            <a:ext cx="1079302" cy="333375"/>
          </a:xfrm>
          <a:prstGeom prst="roundRect">
            <a:avLst>
              <a:gd name="adj" fmla="val 22857"/>
            </a:avLst>
          </a:prstGeom>
          <a:solidFill>
            <a:srgbClr val="5B7F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409527" y="2235398"/>
            <a:ext cx="8161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机器学习基础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666827" y="2159198"/>
            <a:ext cx="812602" cy="333375"/>
          </a:xfrm>
          <a:prstGeom prst="roundRect">
            <a:avLst>
              <a:gd name="adj" fmla="val 22857"/>
            </a:avLst>
          </a:prstGeom>
          <a:solidFill>
            <a:srgbClr val="5B7F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806428" y="2235398"/>
            <a:ext cx="5440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神经网络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797028" y="2159198"/>
            <a:ext cx="812602" cy="333375"/>
          </a:xfrm>
          <a:prstGeom prst="roundRect">
            <a:avLst>
              <a:gd name="adj" fmla="val 22857"/>
            </a:avLst>
          </a:prstGeom>
          <a:solidFill>
            <a:srgbClr val="DCE6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36629" y="2235398"/>
            <a:ext cx="5440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深度学习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27229" y="2173486"/>
            <a:ext cx="568226" cy="304800"/>
          </a:xfrm>
          <a:prstGeom prst="roundRect">
            <a:avLst>
              <a:gd name="adj" fmla="val 25000"/>
            </a:avLst>
          </a:prstGeom>
          <a:solidFill>
            <a:srgbClr val="DCE6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066830" y="2249686"/>
            <a:ext cx="29480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13054" y="2173486"/>
            <a:ext cx="1057424" cy="304800"/>
          </a:xfrm>
          <a:prstGeom prst="roundRect">
            <a:avLst>
              <a:gd name="adj" fmla="val 25000"/>
            </a:avLst>
          </a:prstGeom>
          <a:solidFill>
            <a:srgbClr val="DCE6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952655" y="2249686"/>
            <a:ext cx="7937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31750" y="2813000"/>
            <a:ext cx="8280499" cy="695027"/>
          </a:xfrm>
          <a:prstGeom prst="roundRect">
            <a:avLst>
              <a:gd name="adj" fmla="val 16445"/>
            </a:avLst>
          </a:prstGeom>
          <a:solidFill>
            <a:srgbClr val="FAF9F4"/>
          </a:solidFill>
          <a:ln w="9525">
            <a:solidFill>
              <a:srgbClr val="DEDC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18976" y="2962126"/>
            <a:ext cx="168396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6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画像 B · 已有基础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18976" y="3206502"/>
            <a:ext cx="16839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50" dirty="0">
                <a:solidFill>
                  <a:srgbClr val="8A8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已掌握的自动后置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269927" y="2993827"/>
            <a:ext cx="1079302" cy="333375"/>
          </a:xfrm>
          <a:prstGeom prst="roundRect">
            <a:avLst>
              <a:gd name="adj" fmla="val 22857"/>
            </a:avLst>
          </a:prstGeom>
          <a:solidFill>
            <a:srgbClr val="EBEA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2409527" y="3070027"/>
            <a:ext cx="81610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9A9F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机器学习基础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66827" y="3008114"/>
            <a:ext cx="1057424" cy="304800"/>
          </a:xfrm>
          <a:prstGeom prst="roundRect">
            <a:avLst>
              <a:gd name="adj" fmla="val 25000"/>
            </a:avLst>
          </a:prstGeom>
          <a:solidFill>
            <a:srgbClr val="5B7F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806428" y="3084314"/>
            <a:ext cx="7937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041850" y="2993827"/>
            <a:ext cx="812602" cy="333375"/>
          </a:xfrm>
          <a:prstGeom prst="roundRect">
            <a:avLst>
              <a:gd name="adj" fmla="val 22857"/>
            </a:avLst>
          </a:prstGeom>
          <a:solidFill>
            <a:srgbClr val="5B7F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181451" y="3070027"/>
            <a:ext cx="5440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模型微调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172051" y="2993827"/>
            <a:ext cx="871984" cy="333375"/>
          </a:xfrm>
          <a:prstGeom prst="roundRect">
            <a:avLst>
              <a:gd name="adj" fmla="val 22857"/>
            </a:avLst>
          </a:prstGeom>
          <a:solidFill>
            <a:srgbClr val="DCE6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6311652" y="3070027"/>
            <a:ext cx="60463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进阶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31750" y="3647629"/>
            <a:ext cx="1719263" cy="314325"/>
          </a:xfrm>
          <a:prstGeom prst="roundRect">
            <a:avLst>
              <a:gd name="adj" fmla="val 28283"/>
            </a:avLst>
          </a:prstGeom>
          <a:solidFill>
            <a:srgbClr val="F1ED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84150" y="3723829"/>
            <a:ext cx="144275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依画像 + 掌握度打分排序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277963" y="3647629"/>
            <a:ext cx="1560463" cy="314325"/>
          </a:xfrm>
          <a:prstGeom prst="roundRect">
            <a:avLst>
              <a:gd name="adj" fmla="val 28283"/>
            </a:avLst>
          </a:prstGeom>
          <a:solidFill>
            <a:srgbClr val="F1ED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430363" y="3723829"/>
            <a:ext cx="128077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薄弱优先 · 已掌握后置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965377" y="3647629"/>
            <a:ext cx="1574602" cy="314325"/>
          </a:xfrm>
          <a:prstGeom prst="roundRect">
            <a:avLst>
              <a:gd name="adj" fmla="val 28283"/>
            </a:avLst>
          </a:prstGeom>
          <a:solidFill>
            <a:srgbClr val="F1ED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117777" y="3723829"/>
            <a:ext cx="1295198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每步精准推送对应资源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31750" y="4822924"/>
            <a:ext cx="17490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AA0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智学中枢 · 多智能体个性化学习平台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8382149" y="4822924"/>
            <a:ext cx="3367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AA0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12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04800"/>
            <a:ext cx="84461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58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 4 / 5 </a:t>
            </a:r>
            <a:pPr algn="l" indent="0" marL="0">
              <a:buNone/>
            </a:pPr>
            <a:r>
              <a:rPr lang="en-US" sz="1100" b="1" dirty="0">
                <a:solidFill>
                  <a:srgbClr val="5B7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智能辅导 · 学习评估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31750" y="546050"/>
            <a:ext cx="844610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500"/>
              </a:spcAft>
              <a:buNone/>
            </a:pPr>
            <a:r>
              <a:rPr lang="en-US" sz="2500" b="1" dirty="0">
                <a:solidFill>
                  <a:srgbClr val="26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哪里不懂补哪里，全程被看见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1750" y="1028551"/>
            <a:ext cx="685800" cy="38100"/>
          </a:xfrm>
          <a:prstGeom prst="rect">
            <a:avLst/>
          </a:prstGeom>
          <a:solidFill>
            <a:srgbClr val="5B7F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1750" y="1219051"/>
            <a:ext cx="4038600" cy="3502372"/>
          </a:xfrm>
          <a:prstGeom prst="roundRect">
            <a:avLst>
              <a:gd name="adj" fmla="val 3626"/>
            </a:avLst>
          </a:prstGeom>
          <a:solidFill>
            <a:srgbClr val="FAF9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1750" y="1247626"/>
            <a:ext cx="4038600" cy="0"/>
          </a:xfrm>
          <a:prstGeom prst="line">
            <a:avLst/>
          </a:prstGeom>
          <a:noFill/>
          <a:ln w="57150">
            <a:solidFill>
              <a:srgbClr val="5B7F6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65588" y="1219051"/>
            <a:ext cx="0" cy="3502372"/>
          </a:xfrm>
          <a:prstGeom prst="line">
            <a:avLst/>
          </a:prstGeom>
          <a:noFill/>
          <a:ln w="9525">
            <a:solidFill>
              <a:srgbClr val="DEDC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1750" y="4716661"/>
            <a:ext cx="4038600" cy="0"/>
          </a:xfrm>
          <a:prstGeom prst="line">
            <a:avLst/>
          </a:prstGeom>
          <a:noFill/>
          <a:ln w="9525">
            <a:solidFill>
              <a:srgbClr val="DEDC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6513" y="1219051"/>
            <a:ext cx="0" cy="3502372"/>
          </a:xfrm>
          <a:prstGeom prst="line">
            <a:avLst/>
          </a:prstGeom>
          <a:noFill/>
          <a:ln w="9525">
            <a:solidFill>
              <a:srgbClr val="DEDC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426" y="1453902"/>
            <a:ext cx="368551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5B7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 智能辅导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4426" y="1653927"/>
            <a:ext cx="3685514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1700" b="1" dirty="0">
                <a:solidFill>
                  <a:srgbClr val="26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按需资源生成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44426" y="2079278"/>
            <a:ext cx="704850" cy="279202"/>
          </a:xfrm>
          <a:prstGeom prst="roundRect">
            <a:avLst>
              <a:gd name="adj" fmla="val 27292"/>
            </a:avLst>
          </a:prstGeom>
          <a:solidFill>
            <a:srgbClr val="EDEB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58726" y="2142679"/>
            <a:ext cx="4857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"我没懂"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628477" y="2079278"/>
            <a:ext cx="831652" cy="279202"/>
          </a:xfrm>
          <a:prstGeom prst="roundRect">
            <a:avLst>
              <a:gd name="adj" fmla="val 27292"/>
            </a:avLst>
          </a:prstGeom>
          <a:solidFill>
            <a:srgbClr val="EDEB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742777" y="2142679"/>
            <a:ext cx="6151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识别问题点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739330" y="2079278"/>
            <a:ext cx="710952" cy="279202"/>
          </a:xfrm>
          <a:prstGeom prst="roundRect">
            <a:avLst>
              <a:gd name="adj" fmla="val 27292"/>
            </a:avLst>
          </a:prstGeom>
          <a:solidFill>
            <a:srgbClr val="EDEB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853630" y="2142679"/>
            <a:ext cx="4919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资源清单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44426" y="2409081"/>
            <a:ext cx="831652" cy="279202"/>
          </a:xfrm>
          <a:prstGeom prst="roundRect">
            <a:avLst>
              <a:gd name="adj" fmla="val 27292"/>
            </a:avLst>
          </a:prstGeom>
          <a:solidFill>
            <a:srgbClr val="EDEB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58726" y="2472482"/>
            <a:ext cx="6151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勾选即生成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4426" y="2853184"/>
            <a:ext cx="3613249" cy="488156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523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C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自动定位卡点知识，给出针对性资源清单</a:t>
            </a:r>
            <a:endParaRPr lang="en-US" sz="1050" dirty="0"/>
          </a:p>
          <a:p>
            <a:pPr algn="l" marL="95250" indent="-95250">
              <a:lnSpc>
                <a:spcPts val="1523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C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按需勾选，复用同源生成管线即时产出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4426" y="3468291"/>
            <a:ext cx="3613249" cy="1065907"/>
          </a:xfrm>
          <a:prstGeom prst="roundRect">
            <a:avLst>
              <a:gd name="adj" fmla="val 9532"/>
            </a:avLst>
          </a:prstGeom>
          <a:solidFill>
            <a:srgbClr val="EAE8DD"/>
          </a:solidFill>
          <a:ln w="19050">
            <a:solidFill>
              <a:srgbClr val="B9B6A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493044" y="3925044"/>
            <a:ext cx="195433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A8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〔此处放 智能辅导·资源清单 截图〕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73501" y="1219051"/>
            <a:ext cx="4038749" cy="3502372"/>
          </a:xfrm>
          <a:prstGeom prst="roundRect">
            <a:avLst>
              <a:gd name="adj" fmla="val 3626"/>
            </a:avLst>
          </a:prstGeom>
          <a:solidFill>
            <a:srgbClr val="FAF9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673501" y="1247626"/>
            <a:ext cx="4038749" cy="0"/>
          </a:xfrm>
          <a:prstGeom prst="line">
            <a:avLst/>
          </a:prstGeom>
          <a:noFill/>
          <a:ln w="57150">
            <a:solidFill>
              <a:srgbClr val="C5894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707487" y="1219051"/>
            <a:ext cx="0" cy="3502372"/>
          </a:xfrm>
          <a:prstGeom prst="line">
            <a:avLst/>
          </a:prstGeom>
          <a:noFill/>
          <a:ln w="9525">
            <a:solidFill>
              <a:srgbClr val="DEDC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73501" y="4716661"/>
            <a:ext cx="4038749" cy="0"/>
          </a:xfrm>
          <a:prstGeom prst="line">
            <a:avLst/>
          </a:prstGeom>
          <a:noFill/>
          <a:ln w="9525">
            <a:solidFill>
              <a:srgbClr val="DEDC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78263" y="1219051"/>
            <a:ext cx="0" cy="3502372"/>
          </a:xfrm>
          <a:prstGeom prst="line">
            <a:avLst/>
          </a:prstGeom>
          <a:noFill/>
          <a:ln w="9525">
            <a:solidFill>
              <a:srgbClr val="DEDC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86176" y="1453902"/>
            <a:ext cx="368566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58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 学习评估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86176" y="1653927"/>
            <a:ext cx="3685666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300"/>
              </a:spcBef>
              <a:spcAft>
                <a:spcPts val="900"/>
              </a:spcAft>
              <a:buNone/>
            </a:pPr>
            <a:r>
              <a:rPr lang="en-US" sz="1700" b="1" dirty="0">
                <a:solidFill>
                  <a:srgbClr val="26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多维过程评估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4886176" y="2079278"/>
            <a:ext cx="952202" cy="279202"/>
          </a:xfrm>
          <a:prstGeom prst="roundRect">
            <a:avLst>
              <a:gd name="adj" fmla="val 27292"/>
            </a:avLst>
          </a:prstGeom>
          <a:solidFill>
            <a:srgbClr val="EDEB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5000476" y="2142679"/>
            <a:ext cx="7380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真实做题行为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117580" y="2079278"/>
            <a:ext cx="845046" cy="279202"/>
          </a:xfrm>
          <a:prstGeom prst="roundRect">
            <a:avLst>
              <a:gd name="adj" fmla="val 27292"/>
            </a:avLst>
          </a:prstGeom>
          <a:solidFill>
            <a:srgbClr val="EDEB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231880" y="2142679"/>
            <a:ext cx="6287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评估 Agent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7241828" y="2079278"/>
            <a:ext cx="952202" cy="279202"/>
          </a:xfrm>
          <a:prstGeom prst="roundRect">
            <a:avLst>
              <a:gd name="adj" fmla="val 27292"/>
            </a:avLst>
          </a:prstGeom>
          <a:solidFill>
            <a:srgbClr val="EDEB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7356128" y="2142679"/>
            <a:ext cx="7380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动态调整建议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86176" y="2523381"/>
            <a:ext cx="3613398" cy="488156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523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C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基于真实行为数据的多维度学情评估</a:t>
            </a:r>
            <a:endParaRPr lang="en-US" sz="1050" dirty="0"/>
          </a:p>
          <a:p>
            <a:pPr algn="l" marL="95250" indent="-95250">
              <a:lnSpc>
                <a:spcPts val="1523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4C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学情概览面板 + 动态调整学习建议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86176" y="3138488"/>
            <a:ext cx="3613398" cy="1395710"/>
          </a:xfrm>
          <a:prstGeom prst="roundRect">
            <a:avLst>
              <a:gd name="adj" fmla="val 7279"/>
            </a:avLst>
          </a:prstGeom>
          <a:solidFill>
            <a:srgbClr val="EAE8DD"/>
          </a:solidFill>
          <a:ln w="19050">
            <a:solidFill>
              <a:srgbClr val="B9B6A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875437" y="3760143"/>
            <a:ext cx="166742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8A8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〔此处放 学情概览面板 截图〕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31750" y="4822924"/>
            <a:ext cx="17490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AA0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智学中枢 · 多智能体个性化学习平台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8382149" y="4822924"/>
            <a:ext cx="3367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AA0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12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04800"/>
            <a:ext cx="84461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58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 新 亮 点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31750" y="546050"/>
            <a:ext cx="844610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500"/>
              </a:spcAft>
              <a:buNone/>
            </a:pPr>
            <a:r>
              <a:rPr lang="en-US" sz="2500" b="1" dirty="0">
                <a:solidFill>
                  <a:srgbClr val="26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四个让评委记得住的差异化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1750" y="1028551"/>
            <a:ext cx="685800" cy="38100"/>
          </a:xfrm>
          <a:prstGeom prst="rect">
            <a:avLst/>
          </a:prstGeom>
          <a:solidFill>
            <a:srgbClr val="5B7F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1750" y="1219051"/>
            <a:ext cx="4015978" cy="1034207"/>
          </a:xfrm>
          <a:prstGeom prst="roundRect">
            <a:avLst>
              <a:gd name="adj" fmla="val 12280"/>
            </a:avLst>
          </a:prstGeom>
          <a:solidFill>
            <a:srgbClr val="FAF9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31750" y="1223814"/>
            <a:ext cx="4015978" cy="0"/>
          </a:xfrm>
          <a:prstGeom prst="line">
            <a:avLst/>
          </a:prstGeom>
          <a:noFill/>
          <a:ln w="9525">
            <a:solidFill>
              <a:srgbClr val="DEDC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42966" y="1219051"/>
            <a:ext cx="0" cy="1034207"/>
          </a:xfrm>
          <a:prstGeom prst="line">
            <a:avLst/>
          </a:prstGeom>
          <a:noFill/>
          <a:ln w="9525">
            <a:solidFill>
              <a:srgbClr val="DEDC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31750" y="2248495"/>
            <a:ext cx="4015978" cy="0"/>
          </a:xfrm>
          <a:prstGeom prst="line">
            <a:avLst/>
          </a:prstGeom>
          <a:noFill/>
          <a:ln w="9525">
            <a:solidFill>
              <a:srgbClr val="DEDC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0325" y="1219051"/>
            <a:ext cx="0" cy="1034207"/>
          </a:xfrm>
          <a:prstGeom prst="line">
            <a:avLst/>
          </a:prstGeom>
          <a:noFill/>
          <a:ln w="57150">
            <a:solidFill>
              <a:srgbClr val="5B7F6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92051" y="1393627"/>
            <a:ext cx="518109" cy="431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400" b="1" dirty="0">
                <a:solidFill>
                  <a:srgbClr val="E6D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1200001" y="1393627"/>
            <a:ext cx="309575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真实多智能体协同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00001" y="1692027"/>
            <a:ext cx="3095753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4C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LangGraph 五节点带回环重试，是真协同，非串行模拟的"伪多智能体"。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447729" y="1219051"/>
            <a:ext cx="4015978" cy="1034207"/>
          </a:xfrm>
          <a:prstGeom prst="roundRect">
            <a:avLst>
              <a:gd name="adj" fmla="val 12280"/>
            </a:avLst>
          </a:prstGeom>
          <a:solidFill>
            <a:srgbClr val="FAF9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447729" y="1223814"/>
            <a:ext cx="4015978" cy="0"/>
          </a:xfrm>
          <a:prstGeom prst="line">
            <a:avLst/>
          </a:prstGeom>
          <a:noFill/>
          <a:ln w="9525">
            <a:solidFill>
              <a:srgbClr val="DEDC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58944" y="1219051"/>
            <a:ext cx="0" cy="1034207"/>
          </a:xfrm>
          <a:prstGeom prst="line">
            <a:avLst/>
          </a:prstGeom>
          <a:noFill/>
          <a:ln w="9525">
            <a:solidFill>
              <a:srgbClr val="DEDC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47729" y="2248495"/>
            <a:ext cx="4015978" cy="0"/>
          </a:xfrm>
          <a:prstGeom prst="line">
            <a:avLst/>
          </a:prstGeom>
          <a:noFill/>
          <a:ln w="9525">
            <a:solidFill>
              <a:srgbClr val="DEDC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76304" y="1219051"/>
            <a:ext cx="0" cy="1034207"/>
          </a:xfrm>
          <a:prstGeom prst="line">
            <a:avLst/>
          </a:prstGeom>
          <a:noFill/>
          <a:ln w="57150">
            <a:solidFill>
              <a:srgbClr val="C589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8029" y="1393627"/>
            <a:ext cx="518109" cy="431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400" b="1" dirty="0">
                <a:solidFill>
                  <a:srgbClr val="E6D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5215979" y="1393627"/>
            <a:ext cx="309575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防幻觉 + 内容安全 双保险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215979" y="1692027"/>
            <a:ext cx="3095753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4C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逐句接地校验事实性 + 集中式内容安全过滤违规，两道关正交互补。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31750" y="3687217"/>
            <a:ext cx="4015978" cy="1034207"/>
          </a:xfrm>
          <a:prstGeom prst="roundRect">
            <a:avLst>
              <a:gd name="adj" fmla="val 12280"/>
            </a:avLst>
          </a:prstGeom>
          <a:solidFill>
            <a:srgbClr val="FAF9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431750" y="3691979"/>
            <a:ext cx="4015978" cy="0"/>
          </a:xfrm>
          <a:prstGeom prst="line">
            <a:avLst/>
          </a:prstGeom>
          <a:noFill/>
          <a:ln w="9525">
            <a:solidFill>
              <a:srgbClr val="DEDC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42966" y="3687217"/>
            <a:ext cx="0" cy="1034207"/>
          </a:xfrm>
          <a:prstGeom prst="line">
            <a:avLst/>
          </a:prstGeom>
          <a:noFill/>
          <a:ln w="9525">
            <a:solidFill>
              <a:srgbClr val="DEDC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31750" y="4716661"/>
            <a:ext cx="4015978" cy="0"/>
          </a:xfrm>
          <a:prstGeom prst="line">
            <a:avLst/>
          </a:prstGeom>
          <a:noFill/>
          <a:ln w="9525">
            <a:solidFill>
              <a:srgbClr val="DEDC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0325" y="3687217"/>
            <a:ext cx="0" cy="1034207"/>
          </a:xfrm>
          <a:prstGeom prst="line">
            <a:avLst/>
          </a:prstGeom>
          <a:noFill/>
          <a:ln w="57150">
            <a:solidFill>
              <a:srgbClr val="6FB3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2051" y="3861792"/>
            <a:ext cx="518109" cy="431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400" b="1" dirty="0">
                <a:solidFill>
                  <a:srgbClr val="E6D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400" dirty="0"/>
          </a:p>
        </p:txBody>
      </p:sp>
      <p:sp>
        <p:nvSpPr>
          <p:cNvPr id="27" name="Text 25"/>
          <p:cNvSpPr/>
          <p:nvPr/>
        </p:nvSpPr>
        <p:spPr>
          <a:xfrm>
            <a:off x="1200001" y="3861792"/>
            <a:ext cx="309575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费曼 + 康奈尔 学习闭环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00001" y="4160193"/>
            <a:ext cx="3095753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4C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把科学学习方法做进产品："学—记—讲—测"通关才算掌握。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447729" y="3687217"/>
            <a:ext cx="4015978" cy="1034207"/>
          </a:xfrm>
          <a:prstGeom prst="roundRect">
            <a:avLst>
              <a:gd name="adj" fmla="val 12280"/>
            </a:avLst>
          </a:prstGeom>
          <a:solidFill>
            <a:srgbClr val="FAF9F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447729" y="3691979"/>
            <a:ext cx="4015978" cy="0"/>
          </a:xfrm>
          <a:prstGeom prst="line">
            <a:avLst/>
          </a:prstGeom>
          <a:noFill/>
          <a:ln w="9525">
            <a:solidFill>
              <a:srgbClr val="DEDC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58944" y="3687217"/>
            <a:ext cx="0" cy="1034207"/>
          </a:xfrm>
          <a:prstGeom prst="line">
            <a:avLst/>
          </a:prstGeom>
          <a:noFill/>
          <a:ln w="9525">
            <a:solidFill>
              <a:srgbClr val="DEDCD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47729" y="4716661"/>
            <a:ext cx="4015978" cy="0"/>
          </a:xfrm>
          <a:prstGeom prst="line">
            <a:avLst/>
          </a:prstGeom>
          <a:noFill/>
          <a:ln w="9525">
            <a:solidFill>
              <a:srgbClr val="DEDCD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76304" y="3687217"/>
            <a:ext cx="0" cy="1034207"/>
          </a:xfrm>
          <a:prstGeom prst="line">
            <a:avLst/>
          </a:prstGeom>
          <a:noFill/>
          <a:ln w="57150">
            <a:solidFill>
              <a:srgbClr val="46624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8029" y="3861792"/>
            <a:ext cx="518109" cy="431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3400" b="1" dirty="0">
                <a:solidFill>
                  <a:srgbClr val="E6DA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400" dirty="0"/>
          </a:p>
        </p:txBody>
      </p:sp>
      <p:sp>
        <p:nvSpPr>
          <p:cNvPr id="35" name="Text 33"/>
          <p:cNvSpPr/>
          <p:nvPr/>
        </p:nvSpPr>
        <p:spPr>
          <a:xfrm>
            <a:off x="5215979" y="3861792"/>
            <a:ext cx="309575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对话式画像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5215979" y="4160193"/>
            <a:ext cx="3095753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4C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摒弃表单，自然交流构建 6 异质维度画像，不确定的标低置信不编造。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31750" y="4822924"/>
            <a:ext cx="17490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AA0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智学中枢 · 多智能体个性化学习平台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382149" y="4822924"/>
            <a:ext cx="3367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AA0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12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04800"/>
            <a:ext cx="84461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58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 习 方 法 闭 环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31750" y="546050"/>
            <a:ext cx="844610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500"/>
              </a:spcAft>
              <a:buNone/>
            </a:pPr>
            <a:r>
              <a:rPr lang="en-US" sz="2500" b="1" dirty="0">
                <a:solidFill>
                  <a:srgbClr val="26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 — 记 — 讲 — 测，通关才算掌握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1750" y="1028551"/>
            <a:ext cx="685800" cy="38100"/>
          </a:xfrm>
          <a:prstGeom prst="rect">
            <a:avLst/>
          </a:prstGeom>
          <a:solidFill>
            <a:srgbClr val="5B7F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1750" y="1907679"/>
            <a:ext cx="1746349" cy="1414016"/>
          </a:xfrm>
          <a:prstGeom prst="roundRect">
            <a:avLst>
              <a:gd name="adj" fmla="val 8981"/>
            </a:avLst>
          </a:prstGeom>
          <a:solidFill>
            <a:srgbClr val="FAF9F4"/>
          </a:solidFill>
          <a:ln w="9525">
            <a:solidFill>
              <a:srgbClr val="DEDC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79450" y="2082254"/>
            <a:ext cx="145094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5B7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79450" y="2539454"/>
            <a:ext cx="145094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6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资源精读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79450" y="2809280"/>
            <a:ext cx="1450949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C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个性化讲义 + 多模态资源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279600" y="2481263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58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609701" y="1907679"/>
            <a:ext cx="1746498" cy="1414016"/>
          </a:xfrm>
          <a:prstGeom prst="roundRect">
            <a:avLst>
              <a:gd name="adj" fmla="val 8981"/>
            </a:avLst>
          </a:prstGeom>
          <a:solidFill>
            <a:srgbClr val="FAF9F4"/>
          </a:solidFill>
          <a:ln w="9525">
            <a:solidFill>
              <a:srgbClr val="DEDC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757400" y="2082254"/>
            <a:ext cx="145110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5B7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757400" y="2539454"/>
            <a:ext cx="145110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6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康奈尔笔记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57400" y="2809280"/>
            <a:ext cx="1451101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C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三栏结构化输入与回顾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457700" y="2481263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58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787801" y="1907679"/>
            <a:ext cx="1746349" cy="1414016"/>
          </a:xfrm>
          <a:prstGeom prst="roundRect">
            <a:avLst>
              <a:gd name="adj" fmla="val 8981"/>
            </a:avLst>
          </a:prstGeom>
          <a:solidFill>
            <a:srgbClr val="FAF9F4"/>
          </a:solidFill>
          <a:ln w="9525">
            <a:solidFill>
              <a:srgbClr val="DEDC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35501" y="2082254"/>
            <a:ext cx="145094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5B7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讲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935501" y="2539454"/>
            <a:ext cx="145094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6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费曼讲解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5501" y="2809280"/>
            <a:ext cx="1450949" cy="33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C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向 AI 讲，倒逼暴露知识缺口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635651" y="2481263"/>
            <a:ext cx="233172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58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965752" y="1907679"/>
            <a:ext cx="1746498" cy="1414016"/>
          </a:xfrm>
          <a:prstGeom prst="roundRect">
            <a:avLst>
              <a:gd name="adj" fmla="val 8981"/>
            </a:avLst>
          </a:prstGeom>
          <a:solidFill>
            <a:srgbClr val="FAF9F4"/>
          </a:solidFill>
          <a:ln w="9525">
            <a:solidFill>
              <a:srgbClr val="DEDC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113450" y="2082254"/>
            <a:ext cx="1451101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5B7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7113450" y="2539454"/>
            <a:ext cx="145110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26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阶段测试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13450" y="2809280"/>
            <a:ext cx="1451101" cy="16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30"/>
              </a:lnSpc>
              <a:buNone/>
            </a:pPr>
            <a:r>
              <a:rPr lang="en-US" sz="950" dirty="0">
                <a:solidFill>
                  <a:srgbClr val="4C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通关点亮"已掌握"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31750" y="3524845"/>
            <a:ext cx="8280499" cy="507802"/>
          </a:xfrm>
          <a:prstGeom prst="roundRect">
            <a:avLst>
              <a:gd name="adj" fmla="val 22509"/>
            </a:avLst>
          </a:prstGeom>
          <a:solidFill>
            <a:srgbClr val="46624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960959" y="3664446"/>
            <a:ext cx="532637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↻ 未通关则回到薄弱点循环巩固 —— 一条 </a:t>
            </a:r>
            <a:pPr algn="l" indent="0" marL="0">
              <a:buNone/>
            </a:pPr>
            <a:r>
              <a:rPr lang="en-US" sz="1200" b="1" dirty="0">
                <a:solidFill>
                  <a:srgbClr val="E0A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科学学习闭环</a:t>
            </a:r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，真正落地因材施教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31750" y="4822924"/>
            <a:ext cx="17490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AA0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智学中枢 · 多智能体个性化学习平台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382149" y="4822924"/>
            <a:ext cx="3367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AA0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12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279350"/>
            <a:ext cx="84461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58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 术 亮 点 与 真 实 指 标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31750" y="520601"/>
            <a:ext cx="8446109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26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接地，把幻觉摁到 5% 以下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31750" y="971401"/>
            <a:ext cx="685800" cy="38100"/>
          </a:xfrm>
          <a:prstGeom prst="rect">
            <a:avLst/>
          </a:prstGeom>
          <a:solidFill>
            <a:srgbClr val="5B7F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1750" y="1136452"/>
            <a:ext cx="2667000" cy="1193453"/>
          </a:xfrm>
          <a:prstGeom prst="roundRect">
            <a:avLst>
              <a:gd name="adj" fmla="val 10641"/>
            </a:avLst>
          </a:prstGeom>
          <a:solidFill>
            <a:srgbClr val="FAF9F4"/>
          </a:solidFill>
          <a:ln w="9525">
            <a:solidFill>
              <a:srgbClr val="DEDC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18976" y="1285577"/>
            <a:ext cx="2338399" cy="482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4.28%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618976" y="1831628"/>
            <a:ext cx="233839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050" b="1" dirty="0">
                <a:solidFill>
                  <a:srgbClr val="333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幻觉率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18976" y="2037904"/>
            <a:ext cx="233839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50" dirty="0">
                <a:solidFill>
                  <a:srgbClr val="8A8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 &lt;5%　18 份讲义逐句接地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38351" y="1136452"/>
            <a:ext cx="2667149" cy="1193453"/>
          </a:xfrm>
          <a:prstGeom prst="roundRect">
            <a:avLst>
              <a:gd name="adj" fmla="val 10641"/>
            </a:avLst>
          </a:prstGeom>
          <a:solidFill>
            <a:srgbClr val="FAF9F4"/>
          </a:solidFill>
          <a:ln w="9525">
            <a:solidFill>
              <a:srgbClr val="DEDC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425577" y="1285577"/>
            <a:ext cx="2338551" cy="482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5B7F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425577" y="1831628"/>
            <a:ext cx="233855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050" b="1" dirty="0">
                <a:solidFill>
                  <a:srgbClr val="333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难度适配率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25577" y="2037904"/>
            <a:ext cx="23385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50" dirty="0">
                <a:solidFill>
                  <a:srgbClr val="8A8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 ≥85%　三档难度区分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6045101" y="1136452"/>
            <a:ext cx="2667149" cy="1193453"/>
          </a:xfrm>
          <a:prstGeom prst="roundRect">
            <a:avLst>
              <a:gd name="adj" fmla="val 10641"/>
            </a:avLst>
          </a:prstGeom>
          <a:solidFill>
            <a:srgbClr val="FAF9F4"/>
          </a:solidFill>
          <a:ln w="9525">
            <a:solidFill>
              <a:srgbClr val="DEDC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232327" y="1285577"/>
            <a:ext cx="2338551" cy="482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800" b="1" dirty="0">
                <a:solidFill>
                  <a:srgbClr val="C58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232327" y="1831628"/>
            <a:ext cx="233855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500"/>
              </a:spcBef>
              <a:buNone/>
            </a:pPr>
            <a:r>
              <a:rPr lang="en-US" sz="1050" b="1" dirty="0">
                <a:solidFill>
                  <a:srgbClr val="3339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知识覆盖率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32327" y="2037904"/>
            <a:ext cx="233855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50" dirty="0">
                <a:solidFill>
                  <a:srgbClr val="8A8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目标 ≥90%　36 项核心概念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31750" y="2469505"/>
            <a:ext cx="292755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 生成管线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1750" y="2761506"/>
            <a:ext cx="469850" cy="279202"/>
          </a:xfrm>
          <a:prstGeom prst="roundRect">
            <a:avLst>
              <a:gd name="adj" fmla="val 27292"/>
            </a:avLst>
          </a:prstGeom>
          <a:solidFill>
            <a:srgbClr val="EDEB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46050" y="2824907"/>
            <a:ext cx="246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画像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952351" y="2761506"/>
            <a:ext cx="979289" cy="279202"/>
          </a:xfrm>
          <a:prstGeom prst="roundRect">
            <a:avLst>
              <a:gd name="adj" fmla="val 27292"/>
            </a:avLst>
          </a:prstGeom>
          <a:solidFill>
            <a:srgbClr val="EDEB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066651" y="2824907"/>
            <a:ext cx="76570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检索 153 切片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1982391" y="2761506"/>
            <a:ext cx="469850" cy="279202"/>
          </a:xfrm>
          <a:prstGeom prst="roundRect">
            <a:avLst>
              <a:gd name="adj" fmla="val 27292"/>
            </a:avLst>
          </a:prstGeom>
          <a:solidFill>
            <a:srgbClr val="EDEB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096691" y="2824907"/>
            <a:ext cx="2460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502991" y="2761506"/>
            <a:ext cx="710952" cy="279202"/>
          </a:xfrm>
          <a:prstGeom prst="roundRect">
            <a:avLst>
              <a:gd name="adj" fmla="val 27292"/>
            </a:avLst>
          </a:prstGeom>
          <a:solidFill>
            <a:srgbClr val="EDEB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617291" y="2824907"/>
            <a:ext cx="4919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逐句接地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31750" y="3091309"/>
            <a:ext cx="744587" cy="279202"/>
          </a:xfrm>
          <a:prstGeom prst="roundRect">
            <a:avLst>
              <a:gd name="adj" fmla="val 27292"/>
            </a:avLst>
          </a:prstGeom>
          <a:solidFill>
            <a:srgbClr val="EDEBE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46050" y="3154710"/>
            <a:ext cx="52630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重试/降级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31750" y="3510111"/>
            <a:ext cx="2870150" cy="856655"/>
          </a:xfrm>
          <a:prstGeom prst="roundRect">
            <a:avLst>
              <a:gd name="adj" fmla="val 11860"/>
            </a:avLst>
          </a:prstGeom>
          <a:solidFill>
            <a:srgbClr val="FAF9F4"/>
          </a:solidFill>
          <a:ln w="9525">
            <a:solidFill>
              <a:srgbClr val="DEDC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93675" y="3633936"/>
            <a:ext cx="2597226" cy="609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性能：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C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端到端 P50 13.2s / P90 37.0s
</a:t>
            </a:r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成本：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C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¥0.0197 / 份（DeepSeek 估算）
</a:t>
            </a:r>
            <a:pPr algn="l" indent="0" marL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可靠：</a:t>
            </a:r>
            <a:pPr algn="l"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4C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327 条真实工作流轨迹统计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31750" y="4848225"/>
            <a:ext cx="17490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AA0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智学中枢 · 多智能体个性化学习平台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382149" y="4848225"/>
            <a:ext cx="3367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AA0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8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3479602" y="2469505"/>
          <a:ext cx="5232648" cy="2302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750" y="304800"/>
            <a:ext cx="844610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C589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 程 与 合 规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31750" y="546050"/>
            <a:ext cx="8446109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spcAft>
                <a:spcPts val="500"/>
              </a:spcAft>
              <a:buNone/>
            </a:pPr>
            <a:r>
              <a:rPr lang="en-US" sz="2500" b="1" dirty="0">
                <a:solidFill>
                  <a:srgbClr val="26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能力之外，守得住底线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431750" y="1028551"/>
            <a:ext cx="685800" cy="38100"/>
          </a:xfrm>
          <a:prstGeom prst="rect">
            <a:avLst/>
          </a:prstGeom>
          <a:solidFill>
            <a:srgbClr val="5B7F6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31750" y="1219051"/>
            <a:ext cx="4015978" cy="1332458"/>
          </a:xfrm>
          <a:prstGeom prst="roundRect">
            <a:avLst>
              <a:gd name="adj" fmla="val 9531"/>
            </a:avLst>
          </a:prstGeom>
          <a:solidFill>
            <a:srgbClr val="FAF9F4"/>
          </a:solidFill>
          <a:ln w="9525">
            <a:solidFill>
              <a:srgbClr val="DEDC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44426" y="1380976"/>
            <a:ext cx="36624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开源依赖与协议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4426" y="1695301"/>
            <a:ext cx="3590627" cy="656183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523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C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前沿栈 LangGraph / Chroma / bge / Remotion 逐项标注</a:t>
            </a:r>
            <a:endParaRPr lang="en-US" sz="1050" dirty="0"/>
          </a:p>
          <a:p>
            <a:pPr algn="l" marL="95250" indent="-95250">
              <a:lnSpc>
                <a:spcPts val="1523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C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许可均合规：</a:t>
            </a:r>
            <a:pPr algn="l" indent="0" marL="0">
              <a:lnSpc>
                <a:spcPts val="1523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6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 · BSD · Apache-2.0 · CC BY-SA 4.0</a:t>
            </a:r>
            <a:endParaRPr lang="en-US" sz="1050" dirty="0"/>
          </a:p>
          <a:p>
            <a:pPr algn="l" marL="95250" indent="-95250">
              <a:lnSpc>
                <a:spcPts val="1523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C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知识库语料标注来源与许可，copyleft 单独复核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447729" y="1219051"/>
            <a:ext cx="4015978" cy="1332458"/>
          </a:xfrm>
          <a:prstGeom prst="roundRect">
            <a:avLst>
              <a:gd name="adj" fmla="val 9531"/>
            </a:avLst>
          </a:prstGeom>
          <a:solidFill>
            <a:srgbClr val="FAF9F4"/>
          </a:solidFill>
          <a:ln w="9525">
            <a:solidFill>
              <a:srgbClr val="DEDC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4660404" y="1380976"/>
            <a:ext cx="36624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辅助开发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0404" y="1695301"/>
            <a:ext cx="3590627" cy="656183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523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C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编程工具：</a:t>
            </a:r>
            <a:pPr algn="l" indent="0" marL="0">
              <a:lnSpc>
                <a:spcPts val="1523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6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Code</a:t>
            </a:r>
            <a:pPr algn="l" indent="0" marL="0">
              <a:lnSpc>
                <a:spcPts val="1523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4C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，分阶段 B0–B11 推进</a:t>
            </a:r>
            <a:endParaRPr lang="en-US" sz="1050" dirty="0"/>
          </a:p>
          <a:p>
            <a:pPr algn="l" marL="95250" indent="-95250">
              <a:lnSpc>
                <a:spcPts val="1523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C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底层推理模型：</a:t>
            </a:r>
            <a:pPr algn="l" indent="0" marL="0">
              <a:lnSpc>
                <a:spcPts val="1523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6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DeepSeek</a:t>
            </a:r>
            <a:pPr algn="l" indent="0" marL="0">
              <a:lnSpc>
                <a:spcPts val="1523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4C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（讲义 / 评估 / 对话）</a:t>
            </a:r>
            <a:endParaRPr lang="en-US" sz="1050" dirty="0"/>
          </a:p>
          <a:p>
            <a:pPr algn="l" marL="95250" indent="-95250">
              <a:lnSpc>
                <a:spcPts val="1523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C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生成 + 人工审核分工如实记录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31750" y="3388965"/>
            <a:ext cx="4015978" cy="1332458"/>
          </a:xfrm>
          <a:prstGeom prst="roundRect">
            <a:avLst>
              <a:gd name="adj" fmla="val 9531"/>
            </a:avLst>
          </a:prstGeom>
          <a:solidFill>
            <a:srgbClr val="FAF9F4"/>
          </a:solidFill>
          <a:ln w="9525">
            <a:solidFill>
              <a:srgbClr val="DEDC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644426" y="3550890"/>
            <a:ext cx="36624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内容安全过滤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4426" y="3865215"/>
            <a:ext cx="3590627" cy="656183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523"/>
              </a:lnSpc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26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集中式</a:t>
            </a:r>
            <a:pPr algn="l" indent="0" marL="0">
              <a:lnSpc>
                <a:spcPts val="1523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4C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单一钝化点，覆盖全部 13 个生成器</a:t>
            </a:r>
            <a:endParaRPr lang="en-US" sz="1050" dirty="0"/>
          </a:p>
          <a:p>
            <a:pPr algn="l" marL="95250" indent="-95250">
              <a:lnSpc>
                <a:spcPts val="1523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C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政治 / 色情 / 暴恐 / 违法四类违规拦截或脱敏</a:t>
            </a:r>
            <a:endParaRPr lang="en-US" sz="1050" dirty="0"/>
          </a:p>
          <a:p>
            <a:pPr algn="l" marL="95250" indent="-95250">
              <a:lnSpc>
                <a:spcPts val="1523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C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学术术语</a:t>
            </a:r>
            <a:pPr algn="l" indent="0" marL="0">
              <a:lnSpc>
                <a:spcPts val="1523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6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不误伤</a:t>
            </a:r>
            <a:pPr algn="l" indent="0" marL="0">
              <a:lnSpc>
                <a:spcPts val="1523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4C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（攻击 / 漏洞 / 战争等照常通过）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447729" y="3388965"/>
            <a:ext cx="4015978" cy="1332458"/>
          </a:xfrm>
          <a:prstGeom prst="roundRect">
            <a:avLst>
              <a:gd name="adj" fmla="val 9531"/>
            </a:avLst>
          </a:prstGeom>
          <a:solidFill>
            <a:srgbClr val="FAF9F4"/>
          </a:solidFill>
          <a:ln w="9525">
            <a:solidFill>
              <a:srgbClr val="DEDCD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660404" y="3550890"/>
            <a:ext cx="366244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4662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测试与可靠性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60404" y="3865215"/>
            <a:ext cx="3590627" cy="656183"/>
          </a:xfrm>
          <a:prstGeom prst="rect">
            <a:avLst/>
          </a:prstGeom>
          <a:noFill/>
          <a:ln/>
        </p:spPr>
        <p:txBody>
          <a:bodyPr wrap="square" lIns="95250" tIns="0" rIns="0" bIns="0" rtlCol="0" anchor="t"/>
          <a:lstStyle/>
          <a:p>
            <a:pPr algn="l" marL="95250" indent="-95250">
              <a:lnSpc>
                <a:spcPts val="1523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C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pytest </a:t>
            </a:r>
            <a:pPr algn="l" indent="0" marL="0">
              <a:lnSpc>
                <a:spcPts val="1523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6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179 passed</a:t>
            </a:r>
            <a:pPr algn="l" indent="0" marL="0">
              <a:lnSpc>
                <a:spcPts val="1523"/>
              </a:lnSpc>
              <a:spcAft>
                <a:spcPts val="300"/>
              </a:spcAft>
              <a:buNone/>
            </a:pPr>
            <a:r>
              <a:rPr lang="en-US" sz="1050" dirty="0">
                <a:solidFill>
                  <a:srgbClr val="4C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/ 1 skipped，既有用例 0 回归</a:t>
            </a:r>
            <a:endParaRPr lang="en-US" sz="1050" dirty="0"/>
          </a:p>
          <a:p>
            <a:pPr algn="l" marL="95250" indent="-95250">
              <a:lnSpc>
                <a:spcPts val="1523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C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统一响应信封 + traceId，日志 PII 脱敏</a:t>
            </a:r>
            <a:endParaRPr lang="en-US" sz="1050" dirty="0"/>
          </a:p>
          <a:p>
            <a:pPr algn="l" marL="95250" indent="-95250">
              <a:lnSpc>
                <a:spcPts val="1523"/>
              </a:lnSpc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4C52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Mock-first：</a:t>
            </a:r>
            <a:pPr algn="l" indent="0" marL="0">
              <a:lnSpc>
                <a:spcPts val="1523"/>
              </a:lnSpc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262A2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无任何 API Key 也能跑通全链路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31750" y="4822924"/>
            <a:ext cx="174909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AA0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智学中枢 · 多智能体个性化学习平台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8390186" y="4822924"/>
            <a:ext cx="3285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9AA0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216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381000"/>
            <a:ext cx="81871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6FB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 结 与 展 望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58701" y="647700"/>
            <a:ext cx="818713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spcAft>
                <a:spcPts val="4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 AI 因材施教，让内容可信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58701" y="1193750"/>
            <a:ext cx="812750" cy="38100"/>
          </a:xfrm>
          <a:prstGeom prst="rect">
            <a:avLst/>
          </a:prstGeom>
          <a:solidFill>
            <a:srgbClr val="E0A45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58701" y="1435001"/>
            <a:ext cx="396407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E0A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成果回顾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58701" y="1768376"/>
            <a:ext cx="3886349" cy="2077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1376" y="1892201"/>
            <a:ext cx="3569080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真实多智能体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CBE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系统跑通，幻觉率 4.28% &lt; 5%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1376" y="2436912"/>
            <a:ext cx="3569080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CBE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对话式画像 + 个性化路径 + 学习方法闭环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1376" y="2981623"/>
            <a:ext cx="3569080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CBE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智能辅导 / 学习评估 / 岗位匹配多能力齐备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1376" y="3526334"/>
            <a:ext cx="3569080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CBE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防幻觉 + 内容安全双保险，工程合规可交付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698950" y="1435001"/>
            <a:ext cx="3964076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300" b="1" dirty="0">
                <a:solidFill>
                  <a:srgbClr val="E0A4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揭榜挂帅 · 展望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98950" y="1768376"/>
            <a:ext cx="3886349" cy="1532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11626" y="1892201"/>
            <a:ext cx="3569080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资源聚合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CBE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：联网搜索 + AI 评分，优质资源一键汇聚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11626" y="2436912"/>
            <a:ext cx="3569080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岗位聚合</a:t>
            </a:r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CBE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：对接目标岗位，算匹配度与能力缺口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11626" y="2981623"/>
            <a:ext cx="3569080" cy="195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40"/>
              </a:lnSpc>
              <a:buNone/>
            </a:pPr>
            <a:r>
              <a:rPr lang="en-US" sz="1100" dirty="0">
                <a:solidFill>
                  <a:srgbClr val="CBE3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知识库扩容 + 难度词典领域化，跨域指标看齐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8701" y="4299049"/>
            <a:ext cx="818713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智学中枢 —— </a:t>
            </a:r>
            <a:pPr algn="l" indent="0" marL="0">
              <a:buNone/>
            </a:pPr>
            <a:r>
              <a:rPr lang="en-US" sz="1600" b="1" dirty="0">
                <a:solidFill>
                  <a:srgbClr val="6FB3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让 AI 因材施教，让每一份学习内容都可信。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58701" y="4711750"/>
            <a:ext cx="18524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E8C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智学中枢 · 多智能体个性化学习平台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676852" y="4711750"/>
            <a:ext cx="9266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7E8C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12 · 感谢聆听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智学中枢 · 多智能体个性化学习平台</dc:title>
  <dc:subject>PptxGenJS Presentation</dc:subject>
  <dc:creator>智学中枢团队</dc:creator>
  <cp:lastModifiedBy>智学中枢团队</cp:lastModifiedBy>
  <cp:revision>1</cp:revision>
  <dcterms:created xsi:type="dcterms:W3CDTF">2026-06-21T08:02:14Z</dcterms:created>
  <dcterms:modified xsi:type="dcterms:W3CDTF">2026-06-21T08:02:14Z</dcterms:modified>
</cp:coreProperties>
</file>