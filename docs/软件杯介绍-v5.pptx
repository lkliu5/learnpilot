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22"/>
    <p:sldId id="262" r:id="rId8"/>
    <p:sldId id="263" r:id="rId9"/>
    <p:sldId id="264" r:id="rId10"/>
    <p:sldId id="265" r:id="rId11"/>
    <p:sldId id="272" r:id="rId23"/>
    <p:sldId id="273" r:id="rId24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开场：报项目名 + 赛题 + 组别 + 答辩人。一句话定位——面向 A 赛题"领域知识个性化资源生成和多智能体系统"，核心解决千人一面与 AI 幻觉两大痛点。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关键页：先让评委看到我们对赛题考核点的逐条覆盖。八大考核点 + 三大指标全部达成。后续每页深入"是什么·如何完成"。这页直接对应"贴合官方赛题点与考核点"。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应用价值 35%：核心公式 痛点→现有方案不足→解决方案。两大痛点 + 价值主张三件套（因材施教/可信生成/科学闭环）。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技术架构与多智能体框架（赛题硬要求"须明确框架"）：五层 + LangGraph 编排。强调真实编排、Mock-first 可复现、轻量可跑。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核心功能①——直接回应赛题"对话式自主构建·摒弃表单·6 异质维度"。强调三入口、能力靠测偏好归类、低置信不编造。这是从早期表单方案重构后的成果。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核心功能②重头戏：真实多智能体协同。现场启动工作流、制造审核不通过展示回环重试。8 类资源远超"≥5种"要求。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核心功能③：个性化路径。用真实打分公式展示"动态规划+精准推送"如何实现——确定性计算、画像驱动、可复现。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核心功能④⑤（赛题列为可选加分）：即时辅导按需生成多模态资源；学习评估跨会话跟踪行为、四维量化、动态调整。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核心考察点：防幻觉（三道防线 + 白盒溯源 + 消融数据）+ 内容安全过滤（赛题与防幻觉并列的硬要求）。讲义页实时标注幻觉率&lt;5%、RAG 引用数。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多模态资源是差异化优势：8 类资源远超"≥5种"，且难度自适应、图解动态生成。强调由智能体协作生成、非静态。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技术实现 45%：三大主指标全部达标，且用规模化/跨领域/消融/性能成本/人工盲评五类实验佐证可靠性与可复现性。数字均取自真实 metrics-report。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创新点（应用价值/创新占 35%）：四大创新 + 对比表格直观展示四维领先。这页是拉分关键——别人没有、我们做到。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加分项（积分项）汇总：逐条说明"有哪些 + 如何完成"。多模态、即时辅导、评估、导学、图谱、岗位、联网聚合、内容安全合规。直接回应用户"加分项有哪些、如何完成"。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文档与合规（10%）+ 提交必交项：多智能体框架声明、AI 辅助开发说明（Claude Code+DeepSeek）、开源协议标注、测试与安全。逐项守住合规分。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收尾：回扣"考核点全部达成"，给展望，致谢评委，主动引导提问方向（多智能体协同/防幻觉）。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46304" cy="91440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2161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spc="100" kern="0" dirty="0">
                <a:solidFill>
                  <a:srgbClr val="9FB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赛题：领域知识个性化资源生成和多智能体系统开发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1248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68680" y="272491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0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多智能体协同驱动的个性化学习平台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68680" y="334670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诊断学情 · 生成每一课 —— 让 AI 真正因材施教，让每一份学习内容都可溯源、可信。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41648"/>
            <a:ext cx="25054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真实多智能体协同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38728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4041648"/>
            <a:ext cx="25054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 · 可溯源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08776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4041648"/>
            <a:ext cx="25054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科学学习方法论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78824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78824" y="4041648"/>
            <a:ext cx="25054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点 AI 知识体系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956048"/>
            <a:ext cx="10424160" cy="0"/>
          </a:xfrm>
          <a:prstGeom prst="line">
            <a:avLst/>
          </a:prstGeom>
          <a:noFill/>
          <a:ln w="12700">
            <a:solidFill>
              <a:srgbClr val="3347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3892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参赛组别：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〔本科组 · 企业命题 / 自主命题〕      </a:t>
            </a:r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〔答辩人姓名〕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550468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参赛队伍：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〔队伍名称〕      </a:t>
            </a:r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〔成员姓名〕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587044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参赛院校：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〔学校名称〕      </a:t>
            </a:r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〔指导教师〕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MAPPING · 考核点对齐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赛题考核点 → 我们的实现（逐条对齐）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1556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200400"/>
                <a:gridCol w="4572000"/>
                <a:gridCol w="10515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赛题考核点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官方要求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我们的实现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对话式学习画像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摒弃表单·自然语言·≥6 异质维度·随学随新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三入口对话诊断 · 6 异质维度 · 低置信标注 · 随学更新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多智能体资源生成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 Agent 协作 · 至少 5 种资源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LangGraph 协作 · 论文级图解 + 真 mp4 视频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个性化路径规划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动态规划步骤 · 基于画像精准推送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planner 打分排序 · 偏好定形 · 画像变路径变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防幻觉机制（核心）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+ 多 Agent 校验 · 可溯源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逐句接地 + Critic + 重试降级 · 白盒徽章 · 4.28%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内容安全过滤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无敏感/违规信息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统一输出过滤层 · 命中拦截脱敏 · 不误伤术语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三大量化指标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幻觉&lt;5% / 适配≥85% / 覆盖≥90%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4.28% / 100% / 100%（78 点体系实测）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智能辅导 + 评估（加分）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即时答疑 · 多维评估动态调整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即时辅导按需生成 · 四维评估 + 动态建议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⑧ 多智能体框架 + 合规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明确框架 · 开源协议 · AI 工具说明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LangGraph 状态机 · 协议标注 · Claude Code+DeepSeek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996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评分维度参照：应用价值 35% · 功能与技术 45% · 文档 10% · 视频/PPT 10% —— 逐条覆盖 · 超纲亮点：文档学习（对标 NotebookLM）。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· 应用价值（35%）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应用背景：从痛点到解决方案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2873F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千人一面 · AI 易幻觉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自学缺方法少陪伴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87952" y="137160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5544B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4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现有方案不足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86537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统一难度顺序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生成不可溯源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19872" y="137160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50392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7243F"/>
          </a:solidFill>
          <a:ln w="19050">
            <a:solidFill>
              <a:srgbClr val="5B7F6E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我们的解决方案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0" y="186537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多智能体+RAG+方法论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因材施教·可信·会陪伴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017520"/>
            <a:ext cx="82296" cy="1508760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1455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痛点一 · 资源千人一面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3493008"/>
            <a:ext cx="31638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统一课程、难度与顺序，忽视个体知识基础、认知风格与目标——"学了用不上、想学的没有"。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0175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3017520"/>
            <a:ext cx="82296" cy="1508760"/>
          </a:xfrm>
          <a:prstGeom prst="rect">
            <a:avLst/>
          </a:prstGeom>
          <a:solidFill>
            <a:srgbClr val="B5544B"/>
          </a:solidFill>
          <a:ln/>
        </p:spPr>
      </p:sp>
      <p:sp>
        <p:nvSpPr>
          <p:cNvPr id="25" name="Text 23"/>
          <p:cNvSpPr/>
          <p:nvPr/>
        </p:nvSpPr>
        <p:spPr>
          <a:xfrm>
            <a:off x="4590288" y="31455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痛点二 · AI 生成易幻觉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90288" y="3493008"/>
            <a:ext cx="31638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大模型直接生成常含事实错误、来源不可考；教育一旦"一本正经地胡说"，轻则误导、重则失信。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7243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因材施教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52303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对话建画像 → 能力定顺序、偏好定形式，不同的人不同路径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3484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可信生成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34840" y="52303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逐句接地 + 多智能体审核，幻觉率&lt;5%、来源可溯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科学方法论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55280" y="52303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苏格拉底/费曼/康奈尔/掌握式，从教育理念工程化为产品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3" name="Shape 21"/>
          <p:cNvSpPr/>
          <p:nvPr/>
        </p:nvSpPr>
        <p:spPr>
          <a:xfrm>
            <a:off x="8138160" y="30175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64" name="Shape 22"/>
          <p:cNvSpPr/>
          <p:nvPr/>
        </p:nvSpPr>
        <p:spPr>
          <a:xfrm>
            <a:off x="8138160" y="3017520"/>
            <a:ext cx="82296" cy="1508760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65" name="Text 23"/>
          <p:cNvSpPr/>
          <p:nvPr/>
        </p:nvSpPr>
        <p:spPr>
          <a:xfrm>
            <a:off x="8339328" y="31455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痛点三 · 自学缺方法与陪伴</a:t>
            </a:r>
            <a:endParaRPr lang="en-US" sz="1350" dirty="0"/>
          </a:p>
        </p:txBody>
      </p:sp>
      <p:sp>
        <p:nvSpPr>
          <p:cNvPr id="66" name="Text 24"/>
          <p:cNvSpPr/>
          <p:nvPr/>
        </p:nvSpPr>
        <p:spPr>
          <a:xfrm>
            <a:off x="8339328" y="3493008"/>
            <a:ext cx="31638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看了就忘、卡住没人问、不知学没学会——缺科学方法与全程陪伴，效率低难坚持。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多智能体框架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总体架构：明确的多智能体协同框架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赛题要求  </a:t>
            </a:r>
            <a:pPr indent="0" marL="0">
              <a:buNone/>
            </a:pPr>
            <a:r>
              <a:rPr lang="en-US" sz="1100" dirty="0">
                <a:solidFill>
                  <a:srgbClr val="F0E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须明确采用的"多智能体协同框架" —— 本作品采用 LangGraph 状态机编排，诊断/生成/审核三 Agent 协同。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CFE0D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56816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54680" y="1956816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TS + Vite · Zustand · Framer/GSAP · ECharts/Mermaid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779776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6E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16352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服务接口层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54680" y="2816352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· 统一信封 {code,message,data,traceId} · JWT · 异步任务 · 脱敏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E7D9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7588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多智能体编排层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54680" y="3675888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五节点：诊断 → 检索 → 生成 → 审核 → 决策（重试/降级回环）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49884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CFE0D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35424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54680" y="4535424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 向量库 · bge 本地嵌入 · Top-3 接地 · 78 知识点体系 + 上传文档专属向量集合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35838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DD6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94960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数据与模型层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154680" y="5394960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· 内存 TTL 会话 · 多模型管理（DeepSeek / 魔搭 / 自配 key）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920240"/>
            <a:ext cx="2606040" cy="3803904"/>
          </a:xfrm>
          <a:prstGeom prst="roundRect">
            <a:avLst>
              <a:gd name="adj" fmla="val 3509"/>
            </a:avLst>
          </a:prstGeom>
          <a:solidFill>
            <a:srgbClr val="17243F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20482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技术选型亮点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53728" y="2432304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LangGraph 编排（非串行模拟）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接地抑制幻觉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Mock-first：无 Key 跑全链路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轻量栈 Chroma+SQLite 单机部署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多模型可切换 · 接入魔搭 · 自配 key（加密/脱敏/隔离）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WorkflowTrace 全轨迹可观测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生产替换路径（README）：Chroma→Milvus · SQLite→PostgreSQL · 内存会话→Redis，业务代码零改动。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01 · 对话式画像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对话式学习画像：摒弃表单、随聊随长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赛题要求  </a:t>
            </a:r>
            <a:pPr indent="0" marL="0">
              <a:buNone/>
            </a:pPr>
            <a:r>
              <a:rPr lang="en-US" sz="1100" dirty="0">
                <a:solidFill>
                  <a:srgbClr val="F0E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摒弃传统繁琐表单，通过自然语言对话自动抽取特征，构建不少于 6 个异质维度的画像，随学随新。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17590" y="1865376"/>
            <a:ext cx="5332781" cy="321868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1" name="Image 0" descr="F:\软件杯\docs\ppt-assets\shots\06-profile-chat-progr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2454" y="1920240"/>
            <a:ext cx="5223053" cy="3108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18745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" y="2194560"/>
            <a:ext cx="5440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对话式诊断：自然语言交流自动抽取特征，右侧 6 维画像随聊实时生长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维异质画像：知识基础 · 认知风格 · 易错点 · 学习目标 · 先验经验 · 学习节奏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三种入口：做题式(实测高置信) / 一段话自述(中置信) / 跳过(零基础)，产出同一套画像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384048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1ECE0"/>
          </a:solidFill>
          <a:ln w="12700">
            <a:solidFill>
              <a:srgbClr val="4662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3950208"/>
            <a:ext cx="5111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如何完成 · 技术实现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4297680"/>
            <a:ext cx="507492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能力靠测：诊断微测按答题行为反推，带依据、不靠自陈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双轨设计：能力实测打分 · 偏好只归类型不打分，修正自陈失真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防幻觉前置：空作答标"未测/低置信"，不确定绝不编造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随学随新：错题/进度回流自动更新画像，驱动路径重算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63640" y="51206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右图：对话进行中，右侧 6 维画像逐格点亮、可信度透明标注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02 · 多智能体生成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多智能体协同资源生成（重头戏）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赛题要求  </a:t>
            </a:r>
            <a:pPr indent="0" marL="0">
              <a:buNone/>
            </a:pPr>
            <a:r>
              <a:rPr lang="en-US" sz="1100" dirty="0">
                <a:solidFill>
                  <a:srgbClr val="F0E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体现多智能体架构，由不同角色智能体协作完成、生成至少 5 种学习资源类型。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" y="1819656"/>
            <a:ext cx="7022592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1" name="Image 0" descr="F:\软件杯\docs\ppt-assets\shots\08b-workflow-do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74520"/>
            <a:ext cx="6912864" cy="411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0" y="1828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 + 如何完成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0" y="2157984"/>
            <a:ext cx="393192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18704" y="22311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真实编排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18704" y="25054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诊断→检索→生成→审核→决策五节点逐个点亮，LangGraph 状态机驱动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7772400" y="3127248"/>
            <a:ext cx="393192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18704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角色协作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18704" y="347472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Agent 定学情 · 生成 Agent 产资源 · 审核 Agent 校幻觉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7772400" y="4096512"/>
            <a:ext cx="393192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918704" y="4169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回环重试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918704" y="444398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审核不通过 → 生成↔审核 真实回环；超限降级兜底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7772400" y="5065776"/>
            <a:ext cx="393192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918704" y="5138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类资源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918704" y="541324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讲义/图解/视频/代码等 8 类 · 论文级图解 · 真 mp4 视频，远超"≥5 种"</a:t>
            </a:r>
            <a:endParaRPr lang="en-US" sz="1030" dirty="0"/>
          </a:p>
        </p:txBody>
      </p:sp>
      <p:sp>
        <p:nvSpPr>
          <p:cNvPr id="25" name="Text 22"/>
          <p:cNvSpPr/>
          <p:nvPr/>
        </p:nvSpPr>
        <p:spPr>
          <a:xfrm>
            <a:off x="548640" y="605332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工作流大屏：五节点全部点亮 + 智能体状态 + 真实消息日志（327 条轨迹留痕，可复现）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03 · 路径规划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个性化学习路径：能力定序、偏好定形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赛题要求  </a:t>
            </a:r>
            <a:pPr indent="0" marL="0">
              <a:buNone/>
            </a:pPr>
            <a:r>
              <a:rPr lang="en-US" sz="1100" dirty="0">
                <a:solidFill>
                  <a:srgbClr val="F0E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动态规划学习路径、明确步骤顺序，并基于画像向学习者精准推送资源。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1714" y="1865376"/>
            <a:ext cx="5255971" cy="3172968"/>
          </a:xfrm>
          <a:prstGeom prst="roundRect">
            <a:avLst>
              <a:gd name="adj" fmla="val 230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1" name="Image 0" descr="F:\软件杯\docs\ppt-assets\shots\09-learning-path-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6578" y="1920240"/>
            <a:ext cx="5146243" cy="3063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" y="21945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动态规划：依画像与掌握度排序——薄弱优先、已掌握后置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双驱动：能力定学什么与顺序 · 偏好定每步形式（实践给代码、理论给推导）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学习时间线：每点预计时长 · 周期/总时长/进度% · 节奏建议（预计 2 周·约 20 小时）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365760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1ECE0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3767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如何完成 · 路径优先级打分（planner_agent 真实代码）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4114800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score(kp) = lesson_seq            # 先修骨架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+ 100            若 已达标/已掌握  # 大幅后置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+ 0.8·(能力分/100) 若 薄弱        # 越低越前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± 0.4            基础课×画像基础联动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− 0.8·(目标需求/100)  目标高需求技能前置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55080" y="50749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升序排列、分越小越先学；确定性计算、无随机、可复现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04 · 05 · 辅导与评估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智能即时辅导 + 学习过程评估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赛题要求  </a:t>
            </a:r>
            <a:pPr indent="0" marL="0">
              <a:buNone/>
            </a:pPr>
            <a:r>
              <a:rPr lang="en-US" sz="1100" dirty="0">
                <a:solidFill>
                  <a:srgbClr val="F0E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智能辅导：即时（多模态）答疑；学习评估：多维度精准评估、跟踪学习行为并动态调整。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7474" y="1865376"/>
            <a:ext cx="4948733" cy="2990088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1" name="Image 0" descr="F:\软件杯\docs\ppt-assets\shots\16-instant-tutor-resul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920240"/>
            <a:ext cx="4839005" cy="2880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78194" y="1865376"/>
            <a:ext cx="4948733" cy="2990088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3" name="Image 1" descr="F:\软件杯\docs\ppt-assets\shots\03-dashboard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1920240"/>
            <a:ext cx="4839005" cy="2880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89204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1ECE0"/>
          </a:solidFill>
          <a:ln w="12700">
            <a:solidFill>
              <a:srgbClr val="4662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3232" y="5001768"/>
            <a:ext cx="5157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如何完成 · ④ 即时辅导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31520" y="5349240"/>
            <a:ext cx="51206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「即时辅导」全局化：任意页面选中文字即可问 AI（选中即问）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流式实时回答 · 主动察觉卡顿关怀 · 图解/例题/视频/讲义按需生成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09360" y="489204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1ECE0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73952" y="5001768"/>
            <a:ext cx="5157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如何完成 · ⑤ 学习评估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92240" y="5349240"/>
            <a:ext cx="51206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跨会话累积做题/进度/笔记行为，四维量化评估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定位薄弱点 + 给出下一步与难度的动态调整建议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核心考察点 · 可信与安全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防幻觉机制 + 内容安全（双保险）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赛题要求  </a:t>
            </a:r>
            <a:pPr indent="0" marL="0">
              <a:buNone/>
            </a:pPr>
            <a:r>
              <a:rPr lang="en-US" sz="1100" dirty="0">
                <a:solidFill>
                  <a:srgbClr val="F0E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会议反复强调的核心考察点：RAG + 多 Agent 交叉校验抑制幻觉；并须有内容安全过滤、无敏感违规。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防幻觉三道防线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249424"/>
            <a:ext cx="5532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9424"/>
            <a:ext cx="73152" cy="621792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29514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RAG 接地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29514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Top-3 检索真实语料，逐句可溯源（白盒徽章标来源+置信）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62656"/>
            <a:ext cx="5532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62656"/>
            <a:ext cx="73152" cy="621792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00837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Critic 审核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30083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 Agent 逐句 embedding 接地校验，未接地句计入幻觉率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5532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75888"/>
            <a:ext cx="73152" cy="621792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72160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重试降级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372160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幻觉率&gt;阈值回炉重生成，超限降级，绝不交付不可信内容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517136"/>
            <a:ext cx="5532120" cy="1463040"/>
          </a:xfrm>
          <a:prstGeom prst="roundRect">
            <a:avLst>
              <a:gd name="adj" fmla="val 6250"/>
            </a:avLst>
          </a:prstGeom>
          <a:solidFill>
            <a:srgbClr val="17243F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6268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内容安全过滤（与防幻觉并列硬要求）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4956048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LLM 生成内容返回前过统一安全检测层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检测政治敏感/暴力/违法/不良信息，命中即拦截脱敏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区分"讨论危险"与"指导危险"：教育语境豁免 + 逃逸防护，不误伤术语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54596" y="1865376"/>
            <a:ext cx="395020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27" name="Image 0" descr="F:\软件杯\docs\ppt-assets\shots\11-resource-l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9460" y="1920240"/>
            <a:ext cx="3840480" cy="22860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355080" y="42976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消融实验验证 RAG 是抑制幻觉的主导机制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590288"/>
          <a:ext cx="5349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平均幻觉率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完整链路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0.0589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RAG+审核+重试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 RAG 检索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0.1549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幻觉率激增 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 审核 / − 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0.049 / 0.068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安全网兜底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差异化优势 · 多模态资源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类多模态学习资源中枢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赛题要求  </a:t>
            </a:r>
            <a:pPr indent="0" marL="0">
              <a:buNone/>
            </a:pPr>
            <a:r>
              <a:rPr lang="en-US" sz="1100" dirty="0">
                <a:solidFill>
                  <a:srgbClr val="F0E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 5 种资源类型 —— 本作品提供 8 类多模态资源，并支持入门/初级/高级难度自适应再生成。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920240"/>
            <a:ext cx="2615184" cy="64008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0299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定制讲义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" y="234086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按画像/难度自适应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38144" y="19202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8144" y="1920240"/>
            <a:ext cx="2615184" cy="64008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16" name="Text 14"/>
          <p:cNvSpPr/>
          <p:nvPr/>
        </p:nvSpPr>
        <p:spPr>
          <a:xfrm>
            <a:off x="3584448" y="20299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思维导图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84448" y="234086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markmap 结构脑图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19202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920240"/>
            <a:ext cx="2615184" cy="64008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20" name="Text 18"/>
          <p:cNvSpPr/>
          <p:nvPr/>
        </p:nvSpPr>
        <p:spPr>
          <a:xfrm>
            <a:off x="6382512" y="20299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知识图解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234086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论文级 · 学术风 · 动态生成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34272" y="19202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34272" y="1920240"/>
            <a:ext cx="2615184" cy="64008"/>
          </a:xfrm>
          <a:prstGeom prst="rect">
            <a:avLst/>
          </a:prstGeom>
          <a:solidFill>
            <a:srgbClr val="46624F"/>
          </a:solidFill>
          <a:ln/>
        </p:spPr>
      </p:sp>
      <p:sp>
        <p:nvSpPr>
          <p:cNvPr id="24" name="Text 22"/>
          <p:cNvSpPr/>
          <p:nvPr/>
        </p:nvSpPr>
        <p:spPr>
          <a:xfrm>
            <a:off x="9180576" y="20299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代码沙箱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80576" y="234086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Sandpack 可运行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8346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2834640"/>
            <a:ext cx="2615184" cy="64008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29443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讲解视频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6384" y="325526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Remotion 渲染真 mp4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38144" y="28346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38144" y="2834640"/>
            <a:ext cx="2615184" cy="64008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32" name="Text 30"/>
          <p:cNvSpPr/>
          <p:nvPr/>
        </p:nvSpPr>
        <p:spPr>
          <a:xfrm>
            <a:off x="3584448" y="29443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分阶测试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84448" y="325526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阶段测试 GATE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36208" y="28346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2834640"/>
            <a:ext cx="2615184" cy="64008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29443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外部资源聚合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82512" y="325526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联网搜索 + AI 评分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34272" y="28346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034272" y="2834640"/>
            <a:ext cx="2615184" cy="64008"/>
          </a:xfrm>
          <a:prstGeom prst="rect">
            <a:avLst/>
          </a:prstGeom>
          <a:solidFill>
            <a:srgbClr val="46624F"/>
          </a:solidFill>
          <a:ln/>
        </p:spPr>
      </p:sp>
      <p:sp>
        <p:nvSpPr>
          <p:cNvPr id="40" name="Text 38"/>
          <p:cNvSpPr/>
          <p:nvPr/>
        </p:nvSpPr>
        <p:spPr>
          <a:xfrm>
            <a:off x="9180576" y="29443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苏格拉底导学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80576" y="325526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费曼式启发追问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530706" y="3877056"/>
            <a:ext cx="3796589" cy="2304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43" name="Image 0" descr="F:\软件杯\docs\ppt-assets\shots\17-resource-hu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570" y="3931920"/>
            <a:ext cx="3686861" cy="2194560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7199986" y="3877056"/>
            <a:ext cx="3796589" cy="2304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45" name="Image 1" descr="F:\软件杯\docs\ppt-assets\shots\12-resourc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850" y="3931920"/>
            <a:ext cx="3686861" cy="219456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48640" y="5989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资源中枢一站式聚合 · 产物落库 · 增删改查 · 全格式下载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400800" y="5989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知识图解按知识点动态生成（非写死）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· 技术实现（45%）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三大量化指标全部达标、可复现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46624F"/>
            </a:solidFill>
            <a:prstDash val="solid"/>
          </a:ln>
          <a:effectLst>
            <a:outerShdw sx="100000" sy="100000" kx="0" ky="0" algn="bl" rotWithShape="0" blurRad="88900" dist="25400" dir="5400000">
              <a:srgbClr val="C9BE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499616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0.0428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&lt;0.05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2E4A78"/>
            </a:solidFill>
            <a:prstDash val="solid"/>
          </a:ln>
          <a:effectLst>
            <a:outerShdw sx="100000" sy="100000" kx="0" ky="0" algn="bl" rotWithShape="0" blurRad="88900" dist="25400" dir="5400000">
              <a:srgbClr val="C9BEA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1499616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34340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难度适配率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2743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≥85%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C2873F"/>
            </a:solidFill>
            <a:prstDash val="solid"/>
          </a:ln>
          <a:effectLst>
            <a:outerShdw sx="100000" sy="100000" kx="0" ky="0" algn="bl" rotWithShape="0" blurRad="88900" dist="25400" dir="5400000">
              <a:srgbClr val="C9BEA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1499616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28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知识覆盖率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0" y="2743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≥90%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多维实验验证（不止跑通，更证明可靠）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639312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639312"/>
            <a:ext cx="73152" cy="106070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4904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规模化对比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07822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份 vs 30+ 份语料，扩库后指标稳定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639312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3639312"/>
            <a:ext cx="73152" cy="106070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74904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跨领域验证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407822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换计算机网络域端到端跑通，覆盖率满分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639312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0" y="3639312"/>
            <a:ext cx="73152" cy="106070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74904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407822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 RAG 幻觉率 0.059→0.155，证组件有效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846320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4846320"/>
            <a:ext cx="73152" cy="106070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95604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性能与成本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5285232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13.2s · 单份 ≈¥0.02 · 产物落库降重复成本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43400" y="4846320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43400" y="4846320"/>
            <a:ext cx="73152" cy="106070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39" name="Text 37"/>
          <p:cNvSpPr/>
          <p:nvPr/>
        </p:nvSpPr>
        <p:spPr>
          <a:xfrm>
            <a:off x="4526280" y="495604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人工盲评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26280" y="5285232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维主观打分交叉验证自动指标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46720" y="4846320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12700" dir="5400000">
              <a:srgbClr val="C9BEA6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46720" y="4846320"/>
            <a:ext cx="73152" cy="106070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495604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知识库规模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0" y="5285232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知识点 / 7 大板块完整体系 · AI 按需生成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· 创新点（35%）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五大创新维度 + 横向对比领先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45948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109728" cy="1225296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481328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37360" y="1517904"/>
            <a:ext cx="222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教育理念创新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1956816"/>
            <a:ext cx="2225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苏格拉底/费曼/康奈尔/掌握式——科学方法论工程化落地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19600" y="1371600"/>
            <a:ext cx="345948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19600" y="1371600"/>
            <a:ext cx="109728" cy="1225296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15" name="Text 13"/>
          <p:cNvSpPr/>
          <p:nvPr/>
        </p:nvSpPr>
        <p:spPr>
          <a:xfrm>
            <a:off x="4620768" y="1481328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8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516880" y="1517904"/>
            <a:ext cx="222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个性化创新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16880" y="1956816"/>
            <a:ext cx="2225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行为实测画像 + 能力/偏好双驱动路径 + 学习时间线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743200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743200"/>
            <a:ext cx="109728" cy="1225296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2852928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737360" y="288950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 AI 创新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32841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逐句接地防幻觉 + 白盒溯源 + "讨论/指导"区分的内容安全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2743200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743200"/>
            <a:ext cx="109728" cy="1225296"/>
          </a:xfrm>
          <a:prstGeom prst="rect">
            <a:avLst/>
          </a:prstGeom>
          <a:solidFill>
            <a:srgbClr val="46624F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852928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406640" y="288950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内容与产品创新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332841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点 AI 知识体系 + 文档学习（NotebookLM 式）+ 产品级资源管理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519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2743200"/>
                <a:gridCol w="39319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传统在线学习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AI 生成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智学中枢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个性化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千人一面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仅会话级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维画像 · 双驱动 · 时间线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内容可信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人工·静态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易幻觉·不可溯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接地·&lt;5%·可溯源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学习方法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看视频为主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一问一答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科学方法论工程化 + GATE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内容与产品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人工制作 · 更新慢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不成体系 · 不落库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78点体系 · 文档学习 · 落库CRUD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73" name="Shape 11"/>
          <p:cNvSpPr/>
          <p:nvPr/>
        </p:nvSpPr>
        <p:spPr>
          <a:xfrm>
            <a:off x="8199120" y="1371600"/>
            <a:ext cx="345948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8000"/>
              </a:srgbClr>
            </a:outerShdw>
          </a:effectLst>
        </p:spPr>
      </p:sp>
      <p:sp>
        <p:nvSpPr>
          <p:cNvPr id="74" name="Shape 12"/>
          <p:cNvSpPr/>
          <p:nvPr/>
        </p:nvSpPr>
        <p:spPr>
          <a:xfrm>
            <a:off x="8199120" y="1371600"/>
            <a:ext cx="109728" cy="1225296"/>
          </a:xfrm>
          <a:prstGeom prst="rect">
            <a:avLst/>
          </a:prstGeom>
          <a:solidFill>
            <a:srgbClr val="B5544B"/>
          </a:solidFill>
          <a:ln/>
        </p:spPr>
      </p:sp>
      <p:sp>
        <p:nvSpPr>
          <p:cNvPr id="75" name="Text 13"/>
          <p:cNvSpPr/>
          <p:nvPr/>
        </p:nvSpPr>
        <p:spPr>
          <a:xfrm>
            <a:off x="8400288" y="1481328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200" dirty="0"/>
          </a:p>
        </p:txBody>
      </p:sp>
      <p:sp>
        <p:nvSpPr>
          <p:cNvPr id="76" name="Text 14"/>
          <p:cNvSpPr/>
          <p:nvPr/>
        </p:nvSpPr>
        <p:spPr>
          <a:xfrm>
            <a:off x="9296400" y="1517904"/>
            <a:ext cx="222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</a:t>
            </a:r>
            <a:endParaRPr lang="en-US" sz="1500" dirty="0"/>
          </a:p>
        </p:txBody>
      </p:sp>
      <p:sp>
        <p:nvSpPr>
          <p:cNvPr id="77" name="Text 15"/>
          <p:cNvSpPr/>
          <p:nvPr/>
        </p:nvSpPr>
        <p:spPr>
          <a:xfrm>
            <a:off x="9296400" y="1956816"/>
            <a:ext cx="2225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真实多智能体协同 + 五层架构 + 多模型可切换（魔搭/自配 key）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· 加分项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加分项一览：有哪些 · 如何完成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66928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加分项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如何完成（实现方式）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 / 亮点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文档学习（NotebookLM 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上传任意资料 → 与文档问答（溯源） → 一键生成讲义/视频/图解/闪卡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超纲重磅模块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智能即时辅导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任意页面选中即问 · 流式回答 · 主动察觉卡顿关怀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无处不在的 AI 助教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学情管家中枢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推测需求 → 规划路径 → 监测进展 → 主动建议 · Agent 看板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统筹学习闭环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苏格拉底 / 费曼导学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以讲代学、启发式追问，自动列出理解缺口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学习方法创新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知识图谱可视化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 点分层：7 大板块 → 知识点展开 → 先修依赖连线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学情一目了然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多模型管理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+ 魔搭（GLM/Qwen） · 界面自配 key · 加密脱敏隔离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产品化底子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讲解视频真 mp4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Remotion 服务端渲染 · 画面+旁白一体 · 产物落库全格式下载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资源质量升级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内容安全 + 工程合规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"讨论/指导"区分过滤 · 开源协议标注 · 265+ 用例 · 日志脱敏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守住合规分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· 文档与合规（10%）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工程合规与 AI 辅助开发说明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349240" cy="457200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多智能体框架声明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41248" y="1975104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明确采用 LangGraph 状态机编排多智能体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诊断/生成/审核三 Agent + 路径/评估独立 Agent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WorkflowTrace 全轨迹留痕、可复现可观测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371600"/>
            <a:ext cx="5349240" cy="457200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辅助开发说明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10528" y="1975104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编程协作：Claude Code（占比经人工核对）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底层推理模型：DeepSeek（讲义同源管线）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生成内容均经人工审阅与测试验证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03904"/>
            <a:ext cx="5349240" cy="457200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039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开源依赖与协议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" y="4407408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LangGraph/Remotion/KaTeX/Sandpack/markmap/Chroma/bge 等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文档显著位置标注名称·来源·License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知识库语料标注来源与开放许可、非逐字拷贝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803904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803904"/>
            <a:ext cx="5349240" cy="457200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8039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测试与安全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0528" y="4407408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pytest 265+ 用例全通过 · 前端 tsc 0 报错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 · API key 加密存储/脱敏/按用户隔离 · 日志脱敏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内容安全过滤 + Mock-first 断网可复现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46304" cy="7772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79552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· OUTLOOK · THANKS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1248" y="11155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成果总结与未来展望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已交付成果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赛题八大考核点 + 三大指标全部达成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完整可运行的多智能体系统，前后端+RAG 全链路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 4.28% · 适配/覆盖 100%，结果可复现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点知识体系 · 文档学习 · 学情管家 · 多模型管理全部落地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3774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跨平台桌面客户端：核心服务云端 · API key 本地安全存储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岗位能力图谱：对接真实招聘，学习直通就业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多学科知识体系扩展 + 生产级架构平滑升级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接入更多国产大模型，进一步压低幻觉率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5166360"/>
            <a:ext cx="10424160" cy="841248"/>
          </a:xfrm>
          <a:prstGeom prst="roundRect">
            <a:avLst>
              <a:gd name="adj" fmla="val 10870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166360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感谢各位评委聆听 · 敬请指正 ——  智学中枢：让 AI 因材施教，让每一份学习内容都可信。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· 科学学习方法论（教育理念创新）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科学学习方法论工程化：让学习科学地发生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2873F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 · 苏格拉底问答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不直接给答案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追问引导独立思考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87952" y="137160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5544B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4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 · 康奈尔笔记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86537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三栏结构化复述总结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主动回忆 · 强化记忆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19872" y="137160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50392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7243F"/>
          </a:solidFill>
          <a:ln w="19050">
            <a:solidFill>
              <a:srgbClr val="5B7F6E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 · 费曼学习法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0" y="186537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以教代学讲出来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暴露盲区 · 建构理解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017520"/>
            <a:ext cx="82296" cy="1508760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145536"/>
            <a:ext cx="5129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 · 掌握式学习（Mastery Learning）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3493008"/>
            <a:ext cx="512978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 → 测 → 评（70 分通过）→ 达标才进阶。"通关才算掌握"，阶段测试 GATE 工程化落地，不留知识欠账。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3017520"/>
            <a:ext cx="82296" cy="1508760"/>
          </a:xfrm>
          <a:prstGeom prst="rect">
            <a:avLst/>
          </a:prstGeom>
          <a:solidFill>
            <a:srgbClr val="B5544B"/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3145536"/>
            <a:ext cx="5129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 · 记忆闪卡（间隔重复）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64808" y="3493008"/>
            <a:ext cx="512978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间隔重复 + 主动回忆：按遗忘规律安排复习节奏，练习错题自动沉淀为闪卡，长期记忆真正固化。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7243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52303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把纸笔时代公认有效的方法论搬进产品，人人可用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3484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流程化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34840" y="52303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嵌入学—记—讲—测闭环，随学习进程自动触发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55280" y="52303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不只生成内容，更让学习科学地发生——教育理念的差异化核心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超纲亮点 · 文档学习（对标 NotebookLM）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文档学习：把个性化延伸到你自己的任意资料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超纲亮点  </a:t>
            </a:r>
            <a:pPr indent="0" marL="0">
              <a:buNone/>
            </a:pPr>
            <a:r>
              <a:rPr lang="en-US" sz="1100" dirty="0">
                <a:solidFill>
                  <a:srgbClr val="F0E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 Google NotebookLM —— 上传自己的任意资料即可个性化学习，深度集成多模态生成与溯源问答。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CFE0D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56816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上传资料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54680" y="1956816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多文件上传 · 自动解析切片入库 · 文档概览一目了然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779776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6E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16352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即问即答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54680" y="2816352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与文档对话 · 流式实时回答 · 严格基于文档内容 · 答案溯源到原文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E7D9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7588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一键生成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54680" y="3675888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 / 讲解视频 / 图解 / 思维导图 / 练习题 / 闪卡，基于文档一键生成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49884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CFE0D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35424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专属隔离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54680" y="4535424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每位用户独立向量集合 · 资料互不可见 · 与预置知识库隔离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35838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DD6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94960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产物沉淀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154680" y="5394960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生成产物落库 · 资源库增删改查 · 全格式下载，学习资产可沉淀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920240"/>
            <a:ext cx="2606040" cy="3803904"/>
          </a:xfrm>
          <a:prstGeom prst="roundRect">
            <a:avLst>
              <a:gd name="adj" fmla="val 3509"/>
            </a:avLst>
          </a:prstGeom>
          <a:solidFill>
            <a:srgbClr val="17243F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20482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为什么是重磅亮点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53728" y="2432304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突破预置知识库局限，任意领域资料即可个性化学习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 NotebookLM，深度集成 8 类多模态生成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同源防幻觉：回答句句有出处、可溯源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与画像 / 路径联动，个性化贯穿自有资料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上传文档专属向量集合，安全隔离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三栏工作台：文档 · 对话 · 生成一屏完成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从"平台给什么学什么"到"你有什么就能学什么"——个性化能力边界的一次扩展。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统筹全局 · 学情管家 + 知识图谱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学情管家中枢 + 78 点知识图谱可视化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109728" cy="1225296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481328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37360" y="151790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推测需求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195681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读懂画像与目标：你的水平、偏好与目标，AI 先于你发现缺什么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109728" cy="1225296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1481328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8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406640" y="151790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为你规划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06640" y="195681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+ 时间线：预计周期 / 总时长 / 进度%，节奏建议一屏给出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743200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743200"/>
            <a:ext cx="109728" cy="1225296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2852928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737360" y="288950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监测进展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32841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掌握度实时更新 + 各 Agent 活动看板，学到哪、卡在哪全透明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2743200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743200"/>
            <a:ext cx="109728" cy="1225296"/>
          </a:xfrm>
          <a:prstGeom prst="rect">
            <a:avLst/>
          </a:prstGeom>
          <a:solidFill>
            <a:srgbClr val="46624F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852928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406640" y="288950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主动建议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332841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察觉卡顿与薄弱主动出手，推荐下一步——"AI 统筹学习"闭环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519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2743200"/>
                <a:gridCol w="39319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呈现内容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板块层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大板块全景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点击板块展开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领域结构一屏看清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 个知识点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掌握度四态着色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学到哪一目了然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先修依赖连线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顺连线补先修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学习顺序有据可依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前沿专题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Diffusion / Agent 两条深度线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专题纵深学习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内容体系有深度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智学中枢 · 软件杯参赛汇报（考核点对齐版）</dc:title>
  <dc:subject>PptxGenJS Presentation</dc:subject>
  <dc:creator>智学中枢团队</dc:creator>
  <cp:lastModifiedBy>智学中枢团队</cp:lastModifiedBy>
  <cp:revision>1</cp:revision>
  <dcterms:created xsi:type="dcterms:W3CDTF">2026-06-30T01:46:23Z</dcterms:created>
  <dcterms:modified xsi:type="dcterms:W3CDTF">2026-06-30T01:46:23Z</dcterms:modified>
</cp:coreProperties>
</file>