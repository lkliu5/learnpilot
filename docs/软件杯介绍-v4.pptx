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开场：报项目名 + 赛题 + 组别 + 答辩人。一句话定位——面向 A 赛题"领域知识个性化资源生成和多智能体系统"，核心解决千人一面与 AI 幻觉两大痛点。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关键页：先让评委看到我们对赛题考核点的逐条覆盖。八大考核点 + 三大指标全部达成。后续每页深入"是什么·如何完成"。这页直接对应"贴合官方赛题点与考核点"。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应用价值 35%：核心公式 痛点→现有方案不足→解决方案。两大痛点 + 价值主张三件套（因材施教/可信生成/科学闭环）。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技术架构与多智能体框架（赛题硬要求"须明确框架"）：五层 + LangGraph 编排。强调真实编排、Mock-first 可复现、轻量可跑。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核心功能①——直接回应赛题"对话式自主构建·摒弃表单·6 异质维度"。强调三入口、能力靠测偏好归类、低置信不编造。这是从早期表单方案重构后的成果。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核心功能②重头戏：真实多智能体协同。现场启动工作流、制造审核不通过展示回环重试。8 类资源远超"≥5种"要求。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核心功能③：个性化路径。用真实打分公式展示"动态规划+精准推送"如何实现——确定性计算、画像驱动、可复现。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核心功能④⑤（赛题列为可选加分）：即时辅导按需生成多模态资源；学习评估跨会话跟踪行为、四维量化、动态调整。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核心考察点：防幻觉（三道防线 + 白盒溯源 + 消融数据）+ 内容安全过滤（赛题与防幻觉并列的硬要求）。讲义页实时标注幻觉率&lt;5%、RAG 引用数。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多模态资源是差异化优势：8 类资源远超"≥5种"，且难度自适应、图解动态生成。强调由智能体协作生成、非静态。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技术实现 45%：三大主指标全部达标，且用规模化/跨领域/消融/性能成本/人工盲评五类实验佐证可靠性与可复现性。数字均取自真实 metrics-report。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创新点（应用价值/创新占 35%）：四大创新 + 对比表格直观展示四维领先。这页是拉分关键——别人没有、我们做到。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加分项（积分项）汇总：逐条说明"有哪些 + 如何完成"。多模态、即时辅导、评估、导学、图谱、岗位、联网聚合、内容安全合规。直接回应用户"加分项有哪些、如何完成"。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文档与合规（10%）+ 提交必交项：多智能体框架声明、AI 辅助开发说明（Claude Code+DeepSeek）、开源协议标注、测试与安全。逐项守住合规分。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收尾：回扣"考核点全部达成"，给展望，致谢评委，主动引导提问方向（多智能体协同/防幻觉）。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46304" cy="91440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3" name="Text 1"/>
          <p:cNvSpPr/>
          <p:nvPr/>
        </p:nvSpPr>
        <p:spPr>
          <a:xfrm>
            <a:off x="868680" y="121615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kern="0" spc="100" dirty="0">
                <a:solidFill>
                  <a:srgbClr val="9FB7A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赛题：领域知识个性化资源生成和多智能体系统开发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1248" y="1645920"/>
            <a:ext cx="10058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2724912"/>
            <a:ext cx="10424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E0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多智能体协同驱动的个性化学习平台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3346704"/>
            <a:ext cx="10241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诊断学情 · 生成每一课 —— 让 AI 真正因材施教，让每一份学习内容都可溯源、可信。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41648"/>
            <a:ext cx="250545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真实多智能体协同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38728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4041648"/>
            <a:ext cx="250545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 · 幻觉率&lt;5%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08776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4041648"/>
            <a:ext cx="250545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对话式动态画像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78824" y="4041648"/>
            <a:ext cx="2505456" cy="493776"/>
          </a:xfrm>
          <a:prstGeom prst="roundRect">
            <a:avLst>
              <a:gd name="adj" fmla="val 18519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4041648"/>
            <a:ext cx="250545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学—记—讲—测闭环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56048"/>
            <a:ext cx="1042416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38928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参赛组别：</a:t>
            </a: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〔本科组 · 企业命题 / 自主命题〕      </a:t>
            </a:r>
            <a:r>
              <a:rPr lang="en-US" sz="1250" dirty="0">
                <a:solidFill>
                  <a:srgbClr val="8F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</a:t>
            </a: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〔答辩人姓名〕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504688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参赛队伍：</a:t>
            </a: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〔队伍名称〕      </a:t>
            </a:r>
            <a:r>
              <a:rPr lang="en-US" sz="1250" dirty="0">
                <a:solidFill>
                  <a:srgbClr val="8F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团队成员：</a:t>
            </a: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〔成员姓名〕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5870448"/>
            <a:ext cx="10424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参赛院校：</a:t>
            </a: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〔学校名称〕      </a:t>
            </a:r>
            <a:r>
              <a:rPr lang="en-US" sz="1250" dirty="0">
                <a:solidFill>
                  <a:srgbClr val="8FA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〔指导教师〕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RUBRIC MAPPING · 考核点对齐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赛题考核点 → 我们的实现（逐条对齐）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00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298448"/>
          <a:ext cx="11155680" cy="4937760"/>
        </p:xfrm>
        <a:graphic>
          <a:graphicData uri="http://schemas.openxmlformats.org/drawingml/2006/table">
            <a:tbl>
              <a:tblPr/>
              <a:tblGrid>
                <a:gridCol w="2331720"/>
                <a:gridCol w="3200400"/>
                <a:gridCol w="4572000"/>
                <a:gridCol w="105156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赛题考核点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官方要求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我们的实现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① 对话式学习画像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摒弃表单·自然语言·≥6 异质维度·随学随新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三入口对话诊断 · 6 异质维度 · 低置信标注 · 随学更新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② 多智能体资源生成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 Agent 协作 · 至少 5 种资源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LangGraph 诊断/生成/审核 · 8 类多模态资源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③ 个性化路径规划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动态规划步骤 · 基于画像精准推送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planner 打分排序 · 偏好定形 · 画像变路径变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④ 防幻觉机制（核心）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RAG + 多 Agent 校验 · 可溯源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逐句接地 + Critic + 重试降级 · 白盒徽章 · 4.28%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⑤ 内容安全过滤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无敏感/违规信息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统一输出过滤层 · 命中拦截脱敏 · 不误伤术语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⑥ 三大量化指标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幻觉&lt;5% / 适配≥85% / 覆盖≥90%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4.28% / 100% / 100%（30+ 文档实测）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⑦ 智能辅导 + 评估（加分）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即时答疑 · 多维评估动态调整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即时辅导按需生成 · 四维评估 + 动态建议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⑧ 多智能体框架 + 合规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明确框架 · 开源协议 · AI 工具说明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LangGraph 状态机 · 协议标注 · Claude Code+DeepSeek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</a:t>
                      </a:r>
                      <a:endParaRPr lang="en-US" sz="10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评分维度参照：应用价值 35% · 功能实现与技术 45% · 文档 10% · 视频/PPT 10% —— 本汇报逐条覆盖。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 · 应用价值（35%）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应用背景：从痛点到解决方案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blurRad="762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8132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87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32004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资源千人一面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生成易幻觉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87952" y="1371600"/>
            <a:ext cx="38404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66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5544B"/>
            </a:solidFill>
            <a:prstDash val="solid"/>
          </a:ln>
          <a:effectLst>
            <a:outerShdw blurRad="762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8132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5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现有方案不足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2004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统一难度顺序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生成不可溯源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19872" y="1371600"/>
            <a:ext cx="38404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66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03920" y="13716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7243F"/>
          </a:solidFill>
          <a:ln w="19050">
            <a:solidFill>
              <a:srgbClr val="5B7F6E"/>
            </a:solidFill>
            <a:prstDash val="solid"/>
          </a:ln>
          <a:effectLst>
            <a:outerShdw blurRad="762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148132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1865376"/>
            <a:ext cx="32004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 + RAG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因材施教·可信生成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762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17520"/>
            <a:ext cx="82296" cy="1508760"/>
          </a:xfrm>
          <a:prstGeom prst="rect">
            <a:avLst/>
          </a:prstGeom>
          <a:solidFill>
            <a:srgbClr val="C2873F"/>
          </a:solidFill>
        </p:spPr>
      </p:sp>
      <p:sp>
        <p:nvSpPr>
          <p:cNvPr id="21" name="Text 19"/>
          <p:cNvSpPr/>
          <p:nvPr/>
        </p:nvSpPr>
        <p:spPr>
          <a:xfrm>
            <a:off x="841248" y="3145536"/>
            <a:ext cx="51297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痛点一 · 资源千人一面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3493008"/>
            <a:ext cx="5129784" cy="9418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统一课程、统一难度、统一顺序，忽视个体的知识基础、认知风格与学习目标——"学了用不上、想学的没有"，效率低下。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762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017520"/>
            <a:ext cx="82296" cy="1508760"/>
          </a:xfrm>
          <a:prstGeom prst="rect">
            <a:avLst/>
          </a:prstGeom>
          <a:solidFill>
            <a:srgbClr val="B5544B"/>
          </a:solidFill>
        </p:spPr>
      </p:sp>
      <p:sp>
        <p:nvSpPr>
          <p:cNvPr id="25" name="Text 23"/>
          <p:cNvSpPr/>
          <p:nvPr/>
        </p:nvSpPr>
        <p:spPr>
          <a:xfrm>
            <a:off x="6464808" y="3145536"/>
            <a:ext cx="51297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痛点二 · AI 生成易幻觉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64808" y="3493008"/>
            <a:ext cx="5129784" cy="9418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大模型直接生成讲义常含事实错误、来源不可考；教育场景一旦"一本正经地胡说"，轻则误导、重则失信，无法落地教学。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7243F"/>
          </a:solidFill>
        </p:spPr>
      </p:sp>
      <p:sp>
        <p:nvSpPr>
          <p:cNvPr id="28" name="Text 26"/>
          <p:cNvSpPr/>
          <p:nvPr/>
        </p:nvSpPr>
        <p:spPr>
          <a:xfrm>
            <a:off x="914400" y="48463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因材施教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5230368"/>
            <a:ext cx="33375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对话建画像 → 能力定顺序、偏好定形式，不同的人不同路径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48463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可信生成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34840" y="5230368"/>
            <a:ext cx="33375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逐句接地 + 多智能体审核，幻觉率&lt;5%、来源可溯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8463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科学闭环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55280" y="5230368"/>
            <a:ext cx="33375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康奈尔+费曼+阶段测试做进产品，学—记—讲—测成环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 · 多智能体框架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总体架构：明确的多智能体协同框架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须明确采用的"多智能体协同框架" —— 本作品采用 LangGraph 状态机编排，诊断/生成/审核三 Agent 协同。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56816"/>
            <a:ext cx="23774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前端交互层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54680" y="1956816"/>
            <a:ext cx="5577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18 + TS + Vite · Zustand · Framer/GSAP · ECharts/Mermaid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6E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16352"/>
            <a:ext cx="23774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服务接口层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54680" y="2816352"/>
            <a:ext cx="5577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· 统一信封 {code,message,data,traceId} · JWT · 异步任务 · 脱敏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E7D9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75888"/>
            <a:ext cx="23774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多智能体编排层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54680" y="3675888"/>
            <a:ext cx="5577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五节点：诊断 → 检索 → 生成 → 审核 → 决策（重试/降级回环）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CFE0D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35424"/>
            <a:ext cx="23774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检索增强层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54680" y="4535424"/>
            <a:ext cx="5577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Chroma 向量库 · bge 本地嵌入 · Top-3 接地 · 30+ 文档/153 切片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35838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DDD6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23774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数据与模型层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54680" y="5394960"/>
            <a:ext cx="5577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· 内存 TTL 会话 · LLMClient 适配（mock/DeepSeek/Qwen 可切）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920240"/>
            <a:ext cx="2606040" cy="3803904"/>
          </a:xfrm>
          <a:prstGeom prst="roundRect">
            <a:avLst>
              <a:gd name="adj" fmla="val 3509"/>
            </a:avLst>
          </a:prstGeom>
          <a:solidFill>
            <a:srgbClr val="17243F"/>
          </a:solidFill>
        </p:spPr>
      </p:sp>
      <p:sp>
        <p:nvSpPr>
          <p:cNvPr id="26" name="Text 24"/>
          <p:cNvSpPr/>
          <p:nvPr/>
        </p:nvSpPr>
        <p:spPr>
          <a:xfrm>
            <a:off x="9235440" y="204825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技术选型亮点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3728" y="2432304"/>
            <a:ext cx="23774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LangGraph 编排（非串行模拟）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接地抑制幻觉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Mock-first：无 Key 跑全链路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轻量栈 Chroma+SQLite 单机部署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模型可切换·适配层解耦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WorkflowTrace 全轨迹可观测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10642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生产替换路径（README）：Chroma→Milvus · SQLite→PostgreSQL · 内存会话→Redis，业务代码零改动。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 01 · 对话式画像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对话式学习画像：摒弃表单、随聊随长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摒弃传统繁琐表单，通过自然语言对话自动抽取特征，构建不少于 6 个异质维度的画像，随学随新。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17590" y="1865376"/>
            <a:ext cx="5332781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06-profile-chat-progr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454" y="1920240"/>
            <a:ext cx="5223053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87452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544068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对话式诊断：自然语言交流自动抽取特征，右侧 6 维画像随聊实时生长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维异质画像：知识基础 · 认知风格 · 易错点 · 学习目标 · 先验经验 · 学习节奏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三种入口：做题式(实测高置信) / 一段话自述(中置信) / 跳过(零基础)，产出同一套画像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8404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1ECE0"/>
          </a:solidFill>
          <a:ln w="12700">
            <a:solidFill>
              <a:srgbClr val="4662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950208"/>
            <a:ext cx="5111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如何完成 · 技术实现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4297680"/>
            <a:ext cx="5074920" cy="1581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能力靠测：诊断微测按答题行为反推，带依据、不靠自陈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偏好归类：认知风格/节奏只归类型、不打分，不混进能力轴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防幻觉前置：空作答标"未测/低置信"，不确定绝不编造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随学随新：错题/进度回流自动更新画像，驱动路径重算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63640" y="5120640"/>
            <a:ext cx="54406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右图：对话进行中，右侧 6 维画像逐格点亮、可信度透明标注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 02 · 多智能体生成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多智能体协同资源生成（重头戏）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体现多智能体架构，由不同角色智能体协作完成、生成至少 5 种学习资源类型。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" y="1819656"/>
            <a:ext cx="7022592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08b-workflow-d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74520"/>
            <a:ext cx="6912864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0" y="1828800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 + 如何完成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2157984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18704" y="22311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真实编排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18704" y="2505456"/>
            <a:ext cx="365760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诊断→检索→生成→审核→决策五节点逐个点亮，LangGraph 状态机驱动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772400" y="3127248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18704" y="32004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角色协作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18704" y="3474720"/>
            <a:ext cx="365760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 Agent 定学情 · 生成 Agent 产资源 · 审核 Agent 校幻觉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7772400" y="4096512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918704" y="416966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回环重试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918704" y="4443984"/>
            <a:ext cx="365760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审核不通过 → 生成↔审核 真实回环；超限降级兜底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7772400" y="5065776"/>
            <a:ext cx="3931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918704" y="513892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类资源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918704" y="5413248"/>
            <a:ext cx="3657600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讲义/思维导图/图解/代码/视频/测试/外链/导学，远超"≥5 种"</a:t>
            </a:r>
            <a:endParaRPr lang="en-US" sz="1030" dirty="0"/>
          </a:p>
        </p:txBody>
      </p:sp>
      <p:sp>
        <p:nvSpPr>
          <p:cNvPr id="25" name="Text 22"/>
          <p:cNvSpPr/>
          <p:nvPr/>
        </p:nvSpPr>
        <p:spPr>
          <a:xfrm>
            <a:off x="548640" y="6053328"/>
            <a:ext cx="7040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工作流大屏：五节点全部点亮 + 智能体状态 + 真实消息日志（327 条轨迹留痕，可复现）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 03 · 路径规划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个性化学习路径：能力定序、偏好定形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动态规划学习路径、明确步骤顺序，并基于画像向学习者精准推送资源。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1714" y="1865376"/>
            <a:ext cx="5255971" cy="3172968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2194560"/>
            <a:ext cx="54864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动态规划：依画像与掌握度排序——薄弱优先、已掌握后置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精准推送：偏好决定资源形式（实践型给代码、理论型给推导）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不同的人不同的路径；画像或掌握度变化时自动重算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1ECE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767328"/>
            <a:ext cx="5212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如何完成 · 路径优先级打分（planner_agent 真实代码）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114800"/>
            <a:ext cx="521208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score(kp) = lesson_seq            # 先修骨架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+ 100            若 已达标/已掌握  # 大幅后置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+ 0.8·(能力分/100) 若 薄弱        # 越低越前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± 0.4            基础课×画像基础联动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C282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− 0.8·(岗位需求/100)  目标岗位高需求前置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5074920"/>
            <a:ext cx="53492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升序排列、分越小越先学；确定性计算、无随机、可复现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0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l="10300" r="4226"/>
          <a:stretch>
            <a:fillRect/>
          </a:stretch>
        </p:blipFill>
        <p:spPr>
          <a:xfrm>
            <a:off x="6423660" y="1943735"/>
            <a:ext cx="5227320" cy="3014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 04 · 05 · 辅导与评估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智能即时辅导 + 学习过程评估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智能辅导：即时（多模态）答疑；学习评估：多维度精准评估、跟踪学习行为并动态调整。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4" y="1865376"/>
            <a:ext cx="4948733" cy="2990088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11" name="Image 0" descr="F:\软件杯\docs\ppt-assets\shots\16-instant-tutor-resu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920240"/>
            <a:ext cx="4839005" cy="2880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78194" y="1865376"/>
            <a:ext cx="4948733" cy="2990088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13" name="Image 1" descr="F:\软件杯\docs\ppt-assets\shots\03-dashboar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1920240"/>
            <a:ext cx="4839005" cy="2880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1ECE0"/>
          </a:solidFill>
          <a:ln w="12700">
            <a:solidFill>
              <a:srgbClr val="4662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" y="5001768"/>
            <a:ext cx="515721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如何完成 · ④ 即时辅导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5349240"/>
            <a:ext cx="512064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"我没懂"→ 识别问题 → 按需生成针对性资源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资源含图解/例题/视频/讲义，勾选即生成（多模态答疑）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1ECE0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73952" y="5001768"/>
            <a:ext cx="515721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如何完成 · ⑤ 学习评估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92240" y="5349240"/>
            <a:ext cx="512064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跨会话累积做题/进度/笔记行为，四维量化评估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定位薄弱点 + 给出下一步与难度的动态调整建议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核心考察点 · 可信与安全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防幻觉机制 + 内容安全（双保险）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会议反复强调的核心考察点：RAG + 多 Agent 交叉校验抑制幻觉；并须有内容安全过滤、无敏感违规。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防幻觉三道防线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5532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9424"/>
            <a:ext cx="73152" cy="621792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13" name="Text 11"/>
          <p:cNvSpPr/>
          <p:nvPr/>
        </p:nvSpPr>
        <p:spPr>
          <a:xfrm>
            <a:off x="786384" y="2295144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RAG 接地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295144"/>
            <a:ext cx="3931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Top-3 检索真实语料，逐句可溯源（白盒徽章标来源+置信）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62656"/>
            <a:ext cx="5532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62656"/>
            <a:ext cx="73152" cy="621792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17" name="Text 15"/>
          <p:cNvSpPr/>
          <p:nvPr/>
        </p:nvSpPr>
        <p:spPr>
          <a:xfrm>
            <a:off x="786384" y="3008376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Critic 审核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3008376"/>
            <a:ext cx="3931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 Agent 逐句 embedding 接地校验，未接地句计入幻觉率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5532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75888"/>
            <a:ext cx="73152" cy="621792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21" name="Text 19"/>
          <p:cNvSpPr/>
          <p:nvPr/>
        </p:nvSpPr>
        <p:spPr>
          <a:xfrm>
            <a:off x="786384" y="3721608"/>
            <a:ext cx="1371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重试降级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721608"/>
            <a:ext cx="3931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幻觉率&gt;阈值回炉重生成，超限降级，绝不交付不可信内容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517136"/>
            <a:ext cx="5532120" cy="1463040"/>
          </a:xfrm>
          <a:prstGeom prst="roundRect">
            <a:avLst>
              <a:gd name="adj" fmla="val 6250"/>
            </a:avLst>
          </a:prstGeom>
          <a:solidFill>
            <a:srgbClr val="17243F"/>
          </a:solidFill>
        </p:spPr>
      </p:sp>
      <p:sp>
        <p:nvSpPr>
          <p:cNvPr id="24" name="Text 22"/>
          <p:cNvSpPr/>
          <p:nvPr/>
        </p:nvSpPr>
        <p:spPr>
          <a:xfrm>
            <a:off x="804672" y="4626864"/>
            <a:ext cx="5212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内容安全过滤（与防幻觉并列硬要求）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956048"/>
            <a:ext cx="521208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 LLM 生成内容返回前过统一安全检测层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检测政治敏感/暴力/违法/不良信息，命中即拦截脱敏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可配敏感词表，且不误伤"梯度/激活"等学术术语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4596" y="1865376"/>
            <a:ext cx="395020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27" name="Image 0" descr="F:\软件杯\docs\ppt-assets\shots\11-resource-l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920240"/>
            <a:ext cx="3840480" cy="2286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55080" y="4297680"/>
            <a:ext cx="5349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消融实验验证 RAG 是抑制幻觉的主导机制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355080" y="4590288"/>
          <a:ext cx="5349240" cy="118872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920240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平均幻觉率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完整链路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0.0589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RAG+审核+重试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− RAG 检索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0.1549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幻觉率激增 ↑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− 审核 / − 重试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0.049 / 0.068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安全网兜底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差异化优势 · 多模态资源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类多模态学习资源中枢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A1E12"/>
          </a:solidFill>
          <a:ln w="12700">
            <a:solidFill>
              <a:srgbClr val="C28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98448"/>
            <a:ext cx="1073505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B6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赛题要求  </a:t>
            </a:r>
            <a:r>
              <a:rPr lang="en-US" sz="1100" dirty="0">
                <a:solidFill>
                  <a:srgbClr val="F0E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 5 种资源类型 —— 本作品提供 8 类多模态资源，并支持入门/初级/高级难度自适应再生成。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20240"/>
            <a:ext cx="2615184" cy="64008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12" name="Text 10"/>
          <p:cNvSpPr/>
          <p:nvPr/>
        </p:nvSpPr>
        <p:spPr>
          <a:xfrm>
            <a:off x="786384" y="20299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📖 定制讲义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3408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按画像/难度自适应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38144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920240"/>
            <a:ext cx="2615184" cy="64008"/>
          </a:xfrm>
          <a:prstGeom prst="rect">
            <a:avLst/>
          </a:prstGeom>
          <a:solidFill>
            <a:srgbClr val="2E4A78"/>
          </a:solidFill>
        </p:spPr>
      </p:sp>
      <p:sp>
        <p:nvSpPr>
          <p:cNvPr id="16" name="Text 14"/>
          <p:cNvSpPr/>
          <p:nvPr/>
        </p:nvSpPr>
        <p:spPr>
          <a:xfrm>
            <a:off x="3584448" y="20299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🧠 思维导图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84448" y="23408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markmap 结构脑图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920240"/>
            <a:ext cx="2615184" cy="64008"/>
          </a:xfrm>
          <a:prstGeom prst="rect">
            <a:avLst/>
          </a:prstGeom>
          <a:solidFill>
            <a:srgbClr val="C2873F"/>
          </a:solidFill>
        </p:spPr>
      </p:sp>
      <p:sp>
        <p:nvSpPr>
          <p:cNvPr id="20" name="Text 18"/>
          <p:cNvSpPr/>
          <p:nvPr/>
        </p:nvSpPr>
        <p:spPr>
          <a:xfrm>
            <a:off x="6382512" y="20299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📊 知识图解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3408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Mermaid 动态生成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34272" y="19202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34272" y="1920240"/>
            <a:ext cx="2615184" cy="64008"/>
          </a:xfrm>
          <a:prstGeom prst="rect">
            <a:avLst/>
          </a:prstGeom>
          <a:solidFill>
            <a:srgbClr val="46624F"/>
          </a:solidFill>
        </p:spPr>
      </p:sp>
      <p:sp>
        <p:nvSpPr>
          <p:cNvPr id="24" name="Text 22"/>
          <p:cNvSpPr/>
          <p:nvPr/>
        </p:nvSpPr>
        <p:spPr>
          <a:xfrm>
            <a:off x="9180576" y="20299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💻 代码沙箱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80576" y="23408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Sandpack 可运行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2834640"/>
            <a:ext cx="2615184" cy="64008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28" name="Text 26"/>
          <p:cNvSpPr/>
          <p:nvPr/>
        </p:nvSpPr>
        <p:spPr>
          <a:xfrm>
            <a:off x="786384" y="29443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🎬 讲解视频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" y="32552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Remotion + TTS 旁白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38144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38144" y="2834640"/>
            <a:ext cx="2615184" cy="64008"/>
          </a:xfrm>
          <a:prstGeom prst="rect">
            <a:avLst/>
          </a:prstGeom>
          <a:solidFill>
            <a:srgbClr val="2E4A78"/>
          </a:solidFill>
        </p:spPr>
      </p:sp>
      <p:sp>
        <p:nvSpPr>
          <p:cNvPr id="32" name="Text 30"/>
          <p:cNvSpPr/>
          <p:nvPr/>
        </p:nvSpPr>
        <p:spPr>
          <a:xfrm>
            <a:off x="3584448" y="29443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分阶测试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84448" y="32552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阶段测试 GATE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6208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2834640"/>
            <a:ext cx="2615184" cy="64008"/>
          </a:xfrm>
          <a:prstGeom prst="rect">
            <a:avLst/>
          </a:prstGeom>
          <a:solidFill>
            <a:srgbClr val="C2873F"/>
          </a:solidFill>
        </p:spPr>
      </p:sp>
      <p:sp>
        <p:nvSpPr>
          <p:cNvPr id="36" name="Text 34"/>
          <p:cNvSpPr/>
          <p:nvPr/>
        </p:nvSpPr>
        <p:spPr>
          <a:xfrm>
            <a:off x="6382512" y="29443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🔗 外部资源聚合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82512" y="32552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联网搜索 + AI 评分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34272" y="2834640"/>
            <a:ext cx="2615184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34272" y="2834640"/>
            <a:ext cx="2615184" cy="64008"/>
          </a:xfrm>
          <a:prstGeom prst="rect">
            <a:avLst/>
          </a:prstGeom>
          <a:solidFill>
            <a:srgbClr val="46624F"/>
          </a:solidFill>
        </p:spPr>
      </p:sp>
      <p:sp>
        <p:nvSpPr>
          <p:cNvPr id="40" name="Text 38"/>
          <p:cNvSpPr/>
          <p:nvPr/>
        </p:nvSpPr>
        <p:spPr>
          <a:xfrm>
            <a:off x="9180576" y="2944368"/>
            <a:ext cx="2377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🎓 苏格拉底导学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80576" y="3255264"/>
            <a:ext cx="23957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费曼式启发追问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530706" y="3877056"/>
            <a:ext cx="3796589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43" name="Image 0" descr="F:\软件杯\docs\ppt-assets\shots\17-resource-hu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70" y="3931920"/>
            <a:ext cx="3686861" cy="219456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7199986" y="3877056"/>
            <a:ext cx="3796589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5B7F6E"/>
            </a:solidFill>
            <a:prstDash val="solid"/>
          </a:ln>
          <a:effectLst>
            <a:outerShdw blurRad="114300" dist="38100" dir="5400000" algn="bl" rotWithShape="0">
              <a:srgbClr val="7A6A4A">
                <a:alpha val="28000"/>
              </a:srgbClr>
            </a:outerShdw>
          </a:effectLst>
        </p:spPr>
      </p:sp>
      <p:pic>
        <p:nvPicPr>
          <p:cNvPr id="45" name="Image 1" descr="F:\软件杯\docs\ppt-assets\shots\12-resourc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850" y="3931920"/>
            <a:ext cx="3686861" cy="219456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48640" y="5989320"/>
            <a:ext cx="5760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资源中枢一站式聚合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400800" y="598932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▲ 知识图解按知识点动态生成（非写死）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METRICS · 技术实现（45%）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三大量化指标全部达标、可复现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46624F"/>
            </a:solidFill>
            <a:prstDash val="solid"/>
          </a:ln>
          <a:effectLst>
            <a:outerShdw blurRad="889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99616"/>
            <a:ext cx="347472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0.0428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 &lt;0.05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2E4A78"/>
            </a:solidFill>
            <a:prstDash val="solid"/>
          </a:ln>
          <a:effectLst>
            <a:outerShdw blurRad="889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499616"/>
            <a:ext cx="347472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4A7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343400" y="23774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难度适配率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74320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 ≥85%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C2873F"/>
            </a:solidFill>
            <a:prstDash val="solid"/>
          </a:ln>
          <a:effectLst>
            <a:outerShdw blurRad="88900" dist="25400" dir="5400000" algn="bl" rotWithShape="0">
              <a:srgbClr val="C9BEA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1499616"/>
            <a:ext cx="347472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287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知识覆盖率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274320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 ≥90%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6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多维实验验证（不止跑通，更证明可靠）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639312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639312"/>
            <a:ext cx="73152" cy="106070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23" name="Text 21"/>
          <p:cNvSpPr/>
          <p:nvPr/>
        </p:nvSpPr>
        <p:spPr>
          <a:xfrm>
            <a:off x="822960" y="3749040"/>
            <a:ext cx="3154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规模化对比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078224"/>
            <a:ext cx="3182112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份 vs 30+ 份语料，扩库后指标稳定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639312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639312"/>
            <a:ext cx="73152" cy="106070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27" name="Text 25"/>
          <p:cNvSpPr/>
          <p:nvPr/>
        </p:nvSpPr>
        <p:spPr>
          <a:xfrm>
            <a:off x="4526280" y="3749040"/>
            <a:ext cx="3154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跨领域验证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4078224"/>
            <a:ext cx="3182112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换计算机网络域端到端跑通，覆盖率满分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639312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3639312"/>
            <a:ext cx="73152" cy="106070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31" name="Text 29"/>
          <p:cNvSpPr/>
          <p:nvPr/>
        </p:nvSpPr>
        <p:spPr>
          <a:xfrm>
            <a:off x="8229600" y="3749040"/>
            <a:ext cx="3154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078224"/>
            <a:ext cx="3182112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 RAG 幻觉率 0.059→0.155，证组件有效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846320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846320"/>
            <a:ext cx="73152" cy="106070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35" name="Text 33"/>
          <p:cNvSpPr/>
          <p:nvPr/>
        </p:nvSpPr>
        <p:spPr>
          <a:xfrm>
            <a:off x="822960" y="4956048"/>
            <a:ext cx="3154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性能与成本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5285232"/>
            <a:ext cx="3182112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P50 13.2s / P90 37s · 单份 ≈¥0.02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43400" y="4846320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43400" y="4846320"/>
            <a:ext cx="73152" cy="106070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39" name="Text 37"/>
          <p:cNvSpPr/>
          <p:nvPr/>
        </p:nvSpPr>
        <p:spPr>
          <a:xfrm>
            <a:off x="4526280" y="4956048"/>
            <a:ext cx="3154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人工盲评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26280" y="5285232"/>
            <a:ext cx="3182112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维主观打分交叉验证自动指标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4846320"/>
            <a:ext cx="34747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50800" dist="12700" dir="5400000" algn="bl" rotWithShape="0">
              <a:srgbClr val="C9BEA6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46720" y="4846320"/>
            <a:ext cx="73152" cy="106070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3" name="Text 41"/>
          <p:cNvSpPr/>
          <p:nvPr/>
        </p:nvSpPr>
        <p:spPr>
          <a:xfrm>
            <a:off x="8229600" y="4956048"/>
            <a:ext cx="3154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知识库规模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0" y="5285232"/>
            <a:ext cx="3182112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30+ 文档 / 153 切片，一门完整课程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INNOVATION · 创新点（35%）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四大创新点 + 横向对比领先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109728" cy="1225296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10" name="Text 8"/>
          <p:cNvSpPr/>
          <p:nvPr/>
        </p:nvSpPr>
        <p:spPr>
          <a:xfrm>
            <a:off x="841248" y="1481328"/>
            <a:ext cx="822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7F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1517904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真实多智能体协同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1956816"/>
            <a:ext cx="41148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编排、生成↔审核真实回环重试，非串行动画模拟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109728" cy="1225296"/>
          </a:xfrm>
          <a:prstGeom prst="rect">
            <a:avLst/>
          </a:prstGeom>
          <a:solidFill>
            <a:srgbClr val="C2873F"/>
          </a:solidFill>
        </p:spPr>
      </p:sp>
      <p:sp>
        <p:nvSpPr>
          <p:cNvPr id="15" name="Text 13"/>
          <p:cNvSpPr/>
          <p:nvPr/>
        </p:nvSpPr>
        <p:spPr>
          <a:xfrm>
            <a:off x="6510528" y="1481328"/>
            <a:ext cx="822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2873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406640" y="1517904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 + 内容安全双保险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1956816"/>
            <a:ext cx="41148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接地压幻觉&lt;5% + 敏感违规过滤不误伤术语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743200"/>
            <a:ext cx="109728" cy="1225296"/>
          </a:xfrm>
          <a:prstGeom prst="rect">
            <a:avLst/>
          </a:prstGeom>
          <a:solidFill>
            <a:srgbClr val="2E4A78"/>
          </a:solidFill>
        </p:spPr>
      </p:sp>
      <p:sp>
        <p:nvSpPr>
          <p:cNvPr id="20" name="Text 18"/>
          <p:cNvSpPr/>
          <p:nvPr/>
        </p:nvSpPr>
        <p:spPr>
          <a:xfrm>
            <a:off x="841248" y="2852928"/>
            <a:ext cx="822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4A7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737360" y="2889504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学—记—讲—测科学闭环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328416"/>
            <a:ext cx="41148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康奈尔+费曼+阶段测试 GATE，"通关才算掌握"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743200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743200"/>
            <a:ext cx="109728" cy="1225296"/>
          </a:xfrm>
          <a:prstGeom prst="rect">
            <a:avLst/>
          </a:prstGeom>
          <a:solidFill>
            <a:srgbClr val="46624F"/>
          </a:solidFill>
        </p:spPr>
      </p:sp>
      <p:sp>
        <p:nvSpPr>
          <p:cNvPr id="25" name="Text 23"/>
          <p:cNvSpPr/>
          <p:nvPr/>
        </p:nvSpPr>
        <p:spPr>
          <a:xfrm>
            <a:off x="6510528" y="2852928"/>
            <a:ext cx="822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2889504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对话式动态画像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3328416"/>
            <a:ext cx="411480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摒弃表单、6 异质维度、低置信透明、随学随新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640080" y="4251960"/>
          <a:ext cx="11064240" cy="1865376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2743200"/>
                <a:gridCol w="3931920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传统在线学习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通用 AI 生成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智学中枢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个性化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千人一面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仅会话级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 维画像·能力定序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内容可信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人工·静态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易幻觉·不可溯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RAG 接地·&lt;5%·可溯源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学习方法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看视频为主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一问一答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学—记—讲—测 + GATE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成本效率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制作昂贵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≈¥0.02/份·分钟级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BONUS · 加分项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加分项一览：有哪些 · 如何完成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325880"/>
          <a:ext cx="11155680" cy="4407408"/>
        </p:xfrm>
        <a:graphic>
          <a:graphicData uri="http://schemas.openxmlformats.org/drawingml/2006/table">
            <a:tbl>
              <a:tblPr/>
              <a:tblGrid>
                <a:gridCol w="2651760"/>
                <a:gridCol w="5669280"/>
                <a:gridCol w="283464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加分项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如何完成（实现方式）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 / 亮点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4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多模态学习资源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 类资源由智能体协作生成 · 难度自适应 · 图解动态生成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远超"≥5 种"要求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智能即时辅导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"我没懂"→ 识别问题 → 按需生成图解/例题/视频/讲义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解决自学无人答疑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学习过程评估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跨会话累积行为 · 四维量化 · 薄弱定位 + 动态调整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闭合个性化学习循环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苏格拉底 / 费曼导学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以讲代学、启发式追问，自动列出理解缺口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学习方法创新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知识图谱可视化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掌握/学习中/待学/盲区四态拓扑动态渲染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学情一目了然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岗位对标（轻量入口）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匹配度 + 能力缺口分析（A 赛题轻量、不喧宾夺主）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学习直通就业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联网资源聚合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真实搜索 + AI 评分排序 + URL 白名单防幻觉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优质资源扩展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内容安全 + 工程合规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敏感违规过滤 · 开源协议标注 · 195 条测试 · 日志脱敏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28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守住合规分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4" name="Shape 2"/>
          <p:cNvSpPr/>
          <p:nvPr/>
        </p:nvSpPr>
        <p:spPr>
          <a:xfrm>
            <a:off x="502920" y="274320"/>
            <a:ext cx="109728" cy="5486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5" name="Text 3"/>
          <p:cNvSpPr/>
          <p:nvPr/>
        </p:nvSpPr>
        <p:spPr>
          <a:xfrm>
            <a:off x="749808" y="237744"/>
            <a:ext cx="8686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 · 文档与合规（10%）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9509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工程合规与 AI 辅助开发说明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41280" y="164592"/>
            <a:ext cx="14447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3250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349240" cy="457200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10" name="Text 8"/>
          <p:cNvSpPr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多智能体框架声明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41248" y="1975104"/>
            <a:ext cx="498348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明确采用 LangGraph 状态机编排多智能体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诊断/生成/审核三 Agent + 路径/评估独立 Agent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WorkflowTrace 全轨迹留痕、可复现可观测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49240" cy="457200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14" name="Text 12"/>
          <p:cNvSpPr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辅助开发说明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10528" y="1975104"/>
            <a:ext cx="498348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编程协作：Claude Code（占比经人工核对）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底层推理模型：DeepSeek（讲义同源管线）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生成内容均经人工审阅与测试验证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03904"/>
            <a:ext cx="5349240" cy="457200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18" name="Text 16"/>
          <p:cNvSpPr/>
          <p:nvPr/>
        </p:nvSpPr>
        <p:spPr>
          <a:xfrm>
            <a:off x="822960" y="3803904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开源依赖与协议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407408"/>
            <a:ext cx="498348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LangGraph/Remotion/Sandpack/markmap/Chroma/bge 等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文档显著位置标注名称·来源·License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知识库语料标注来源与开放许可、非逐字拷贝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803904"/>
            <a:ext cx="534924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ED7C7"/>
            </a:solidFill>
            <a:prstDash val="solid"/>
          </a:ln>
          <a:effectLst>
            <a:outerShdw blurRad="63500" dist="25400" dir="5400000" algn="bl" rotWithShape="0">
              <a:srgbClr val="C9BEA6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803904"/>
            <a:ext cx="5349240" cy="457200"/>
          </a:xfrm>
          <a:prstGeom prst="rect">
            <a:avLst/>
          </a:prstGeom>
          <a:solidFill>
            <a:srgbClr val="17243F"/>
          </a:solidFill>
        </p:spPr>
      </p:sp>
      <p:sp>
        <p:nvSpPr>
          <p:cNvPr id="22" name="Text 20"/>
          <p:cNvSpPr/>
          <p:nvPr/>
        </p:nvSpPr>
        <p:spPr>
          <a:xfrm>
            <a:off x="6492240" y="3803904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测试与安全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0528" y="4407408"/>
            <a:ext cx="498348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pytest 18 文件/195 用例全通过 · 前端 tsc 0 报错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鉴权 + 角色权限守卫 + 日志脱敏拦截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C28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内容安全过滤 + Mock-first 断网可复现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2700">
            <a:solidFill>
              <a:srgbClr val="DE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739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智学中枢 · 领域知识个性化资源生成和多智能体系统开发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73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中国软件杯 2026 · A 赛题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44200" y="6473952"/>
            <a:ext cx="9418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6624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6304" cy="777240"/>
          </a:xfrm>
          <a:prstGeom prst="rect">
            <a:avLst/>
          </a:prstGeom>
          <a:solidFill>
            <a:srgbClr val="5B7F6E"/>
          </a:solidFill>
        </p:spPr>
      </p:sp>
      <p:sp>
        <p:nvSpPr>
          <p:cNvPr id="3" name="Text 1"/>
          <p:cNvSpPr/>
          <p:nvPr/>
        </p:nvSpPr>
        <p:spPr>
          <a:xfrm>
            <a:off x="868680" y="795528"/>
            <a:ext cx="91440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7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 · OUTLOOK · THANKS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" y="11155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成果总结与未来展望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已交付成果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1206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赛题八大考核点 + 三大指标全部达成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完整可运行的多智能体系统，前后端+RAG 全链路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幻觉率 4.28% · 适配/覆盖 100%，结果可复现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类多模态资源 + 多项加分项，覆盖学习全流程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521208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资源生态聚合：联网优质资源 + AI 评分规模化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岗位能力图谱：对接真实招聘，学习直通就业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多学科扩展 + 生产级架构平滑升级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6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防幻觉接更强模型、扩权威语料进一步压低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5166360"/>
            <a:ext cx="10424160" cy="841248"/>
          </a:xfrm>
          <a:prstGeom prst="roundRect">
            <a:avLst>
              <a:gd name="adj" fmla="val 10870"/>
            </a:avLst>
          </a:prstGeom>
          <a:solidFill>
            <a:srgbClr val="1F3050"/>
          </a:solidFill>
          <a:ln w="1270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66360"/>
            <a:ext cx="10424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感谢各位评委聆听 · 敬请指正 ——  智学中枢：让 AI 因材施教，让每一份学习内容都可信。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5862</Words>
  <Application>WPS 演示</Application>
  <PresentationFormat>On-screen Show (16:9)</PresentationFormat>
  <Paragraphs>685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Consolas</vt:lpstr>
      <vt:lpstr>Consolas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智学中枢 · 软件杯参赛汇报（考核点对齐版）</dc:title>
  <dc:creator>智学中枢团队</dc:creator>
  <dc:subject>PptxGenJS Presentation</dc:subject>
  <cp:lastModifiedBy>WPS_1645432993</cp:lastModifiedBy>
  <cp:revision>2</cp:revision>
  <dcterms:created xsi:type="dcterms:W3CDTF">2026-06-30T01:46:00Z</dcterms:created>
  <dcterms:modified xsi:type="dcterms:W3CDTF">2026-07-15T01:52:04Z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CC95283533CB46848E66A346E9255AE1_12</vt:lpwstr>
  </property>
</Properties>
</file>